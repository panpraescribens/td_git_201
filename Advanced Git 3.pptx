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6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887" autoAdjust="0"/>
  </p:normalViewPr>
  <p:slideViewPr>
    <p:cSldViewPr snapToGrid="0">
      <p:cViewPr varScale="1">
        <p:scale>
          <a:sx n="95" d="100"/>
          <a:sy n="95" d="100"/>
        </p:scale>
        <p:origin x="108"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43593-DDDC-43AF-AC2F-93C8ECCD9EA1}" type="datetimeFigureOut">
              <a:rPr lang="fr-FR" smtClean="0"/>
              <a:t>09/12/2025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71A9F-1700-46FF-B6E9-7591AA9C8781}" type="slidenum">
              <a:rPr lang="fr-FR" smtClean="0"/>
              <a:t>‹#›</a:t>
            </a:fld>
            <a:endParaRPr lang="fr-FR"/>
          </a:p>
        </p:txBody>
      </p:sp>
    </p:spTree>
    <p:extLst>
      <p:ext uri="{BB962C8B-B14F-4D97-AF65-F5344CB8AC3E}">
        <p14:creationId xmlns:p14="http://schemas.microsoft.com/office/powerpoint/2010/main" val="484052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vu des notions de base pour se sortir du pétrin (reset), on a vu également LA commande la plus périlleuse (rebase) et comment mieux la dompter.</a:t>
            </a:r>
          </a:p>
          <a:p>
            <a:r>
              <a:rPr lang="fr-FR" dirty="0"/>
              <a:t>Aujourd’hui on va essayer de lier tout cela, de présenter le contexte qui montre pourquoi on se retrouve à faire des rebases et autres manipulations.</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1</a:t>
            </a:fld>
            <a:endParaRPr lang="fr-FR"/>
          </a:p>
        </p:txBody>
      </p:sp>
    </p:spTree>
    <p:extLst>
      <p:ext uri="{BB962C8B-B14F-4D97-AF65-F5344CB8AC3E}">
        <p14:creationId xmlns:p14="http://schemas.microsoft.com/office/powerpoint/2010/main" val="685193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Ici on a un schéma typique d’un flux de travail en équipe (ou pas).</a:t>
            </a:r>
          </a:p>
          <a:p>
            <a:r>
              <a:rPr lang="fr-FR" dirty="0"/>
              <a:t>La branche master ne sert que pour mettre des </a:t>
            </a:r>
            <a:r>
              <a:rPr lang="fr-FR" dirty="0" err="1"/>
              <a:t>commits</a:t>
            </a:r>
            <a:r>
              <a:rPr lang="fr-FR" dirty="0"/>
              <a:t> validés auparavant par des tests, une recette, etc.</a:t>
            </a:r>
          </a:p>
          <a:p>
            <a:r>
              <a:rPr lang="fr-FR" dirty="0"/>
              <a:t>Le code dans master doit marcher et être présentable au public.</a:t>
            </a:r>
          </a:p>
          <a:p>
            <a:endParaRPr lang="fr-FR" dirty="0"/>
          </a:p>
          <a:p>
            <a:r>
              <a:rPr lang="fr-FR" dirty="0"/>
              <a:t>Tout au bout sont les branches de développement : par exemple ici feat/D et feat/G qui représentent du travail en cours. Tant qu’on est dans la branche, on a du code qui peut être instable, expérimental, à tester, etc. </a:t>
            </a:r>
          </a:p>
          <a:p>
            <a:r>
              <a:rPr lang="fr-FR" dirty="0"/>
              <a:t>Notez que j’ai mis feat/D et feat/G l’une à la suite de l’autre mais on peut avoir pleins de branches en même temps, suivant la taille de l’équipe et la capacité des gens à travailler en parallèle.</a:t>
            </a:r>
          </a:p>
          <a:p>
            <a:r>
              <a:rPr lang="fr-FR" dirty="0"/>
              <a:t>Et bien sûr on peut encore créer des branches à partir de ces branches lorsque le besoin s’en fait sentir.</a:t>
            </a:r>
          </a:p>
          <a:p>
            <a:endParaRPr lang="fr-FR" dirty="0"/>
          </a:p>
          <a:p>
            <a:r>
              <a:rPr lang="fr-FR" dirty="0"/>
              <a:t>Entre les deux, on a la branche dev qui représente une version potentiellement finale. C’est la version qui va être proposée en recette, passée en tests, etc.</a:t>
            </a:r>
          </a:p>
          <a:p>
            <a:r>
              <a:rPr lang="fr-FR" dirty="0"/>
              <a:t>Une fois ces étapes de validation faites, on peut faire une fusion sur la branche master.</a:t>
            </a:r>
          </a:p>
          <a:p>
            <a:endParaRPr lang="fr-FR" dirty="0"/>
          </a:p>
          <a:p>
            <a:r>
              <a:rPr lang="fr-FR" dirty="0" err="1"/>
              <a:t>Rermarquez</a:t>
            </a:r>
            <a:r>
              <a:rPr lang="fr-FR" dirty="0"/>
              <a:t> ici les commit E et F en pointillés ; c’est parce qu’ici j’ai représenté des </a:t>
            </a:r>
            <a:r>
              <a:rPr lang="fr-FR" dirty="0" err="1"/>
              <a:t>commits</a:t>
            </a:r>
            <a:r>
              <a:rPr lang="fr-FR" dirty="0"/>
              <a:t> de fusion, qui ne contiennent généralement pas de nouveau code, mais marquent simplement la fusion entre deux (ou plus) </a:t>
            </a:r>
            <a:r>
              <a:rPr lang="fr-FR" dirty="0" err="1"/>
              <a:t>commits</a:t>
            </a:r>
            <a:r>
              <a:rPr lang="fr-FR" dirty="0"/>
              <a:t> parents, et l’éventuelle résolution de conflits.</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2</a:t>
            </a:fld>
            <a:endParaRPr lang="fr-FR"/>
          </a:p>
        </p:txBody>
      </p:sp>
    </p:spTree>
    <p:extLst>
      <p:ext uri="{BB962C8B-B14F-4D97-AF65-F5344CB8AC3E}">
        <p14:creationId xmlns:p14="http://schemas.microsoft.com/office/powerpoint/2010/main" val="4006038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branches c’est sympa, mais ça peut devenir compliqué de savoir où on en est. Chacun bosse dans son coin et se rencontre seulement quand il y a des problèmes de fusion, etc.</a:t>
            </a:r>
          </a:p>
          <a:p>
            <a:r>
              <a:rPr lang="fr-FR" dirty="0"/>
              <a:t>Une approche radicalement différente c’est « </a:t>
            </a:r>
            <a:r>
              <a:rPr lang="fr-FR" dirty="0" err="1"/>
              <a:t>trunk-based</a:t>
            </a:r>
            <a:r>
              <a:rPr lang="fr-FR" dirty="0"/>
              <a:t> </a:t>
            </a:r>
            <a:r>
              <a:rPr lang="fr-FR" dirty="0" err="1"/>
              <a:t>developpement</a:t>
            </a:r>
            <a:r>
              <a:rPr lang="fr-FR" dirty="0"/>
              <a:t> » c’est-à-dire « développement sur le tronc » (de l’arbre, donc).</a:t>
            </a:r>
          </a:p>
          <a:p>
            <a:r>
              <a:rPr lang="fr-FR" dirty="0"/>
              <a:t>On travaille toujours sur des petites branches locales, mais on met tout sur la branche principale dès que c’est près. </a:t>
            </a:r>
          </a:p>
          <a:p>
            <a:r>
              <a:rPr lang="fr-FR" dirty="0"/>
              <a:t>Bien sûr, la fusion est plus sécurisée, il faut une phase de validation, et tout cela s’inscrit dans une approche CI/CD.</a:t>
            </a:r>
          </a:p>
          <a:p>
            <a:r>
              <a:rPr lang="fr-FR" dirty="0"/>
              <a:t>Et pour marquer les releases ont crée des branches mais qui ne vont pas servir au développement (un peu comme des tags, donc).</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3</a:t>
            </a:fld>
            <a:endParaRPr lang="fr-FR"/>
          </a:p>
        </p:txBody>
      </p:sp>
    </p:spTree>
    <p:extLst>
      <p:ext uri="{BB962C8B-B14F-4D97-AF65-F5344CB8AC3E}">
        <p14:creationId xmlns:p14="http://schemas.microsoft.com/office/powerpoint/2010/main" val="2216726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Qui dit branches dit divergence. Mais comme on ne peut pas travailler décemment avec des versions dans tous les sens, il faut bien que ces branches reviennent à la source.</a:t>
            </a:r>
          </a:p>
          <a:p>
            <a:r>
              <a:rPr lang="fr-FR" dirty="0"/>
              <a:t>C’est pour cela que le terme de « branche » est trompeur car le but n’est pas d’avoir un arbre…</a:t>
            </a:r>
          </a:p>
          <a:p>
            <a:r>
              <a:rPr lang="fr-FR" dirty="0"/>
              <a:t>Nos branches doivent soit être abandonnées (si elles ne répondent finalement pas à leur objectif), soit fusionnées avec une autre, généralement celle dont elle sont issues (feat dans dev, dev dans main, </a:t>
            </a:r>
            <a:r>
              <a:rPr lang="fr-FR" dirty="0" err="1"/>
              <a:t>etc</a:t>
            </a:r>
            <a:r>
              <a:rPr lang="fr-FR" dirty="0"/>
              <a:t>)</a:t>
            </a:r>
          </a:p>
          <a:p>
            <a:endParaRPr lang="fr-FR" dirty="0"/>
          </a:p>
          <a:p>
            <a:r>
              <a:rPr lang="fr-FR" dirty="0"/>
              <a:t>Le problème c’est que dans la vraie vie, des équipes peuvent travailler en parallèle, faire leurs commit sur une même branche et entrer en conflit. Conflit qu’il va donc falloir résoudre avant de mettre ses modifications dans la branche commune.</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4</a:t>
            </a:fld>
            <a:endParaRPr lang="fr-FR"/>
          </a:p>
        </p:txBody>
      </p:sp>
    </p:spTree>
    <p:extLst>
      <p:ext uri="{BB962C8B-B14F-4D97-AF65-F5344CB8AC3E}">
        <p14:creationId xmlns:p14="http://schemas.microsoft.com/office/powerpoint/2010/main" val="2935224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conflits ne sont pas fondamentalement compliqués à comprendre.</a:t>
            </a:r>
          </a:p>
          <a:p>
            <a:r>
              <a:rPr lang="fr-FR" dirty="0"/>
              <a:t>Deux personnes ou équipes sont confrontées à un choix, et divergent car leur décision est différente.</a:t>
            </a:r>
          </a:p>
          <a:p>
            <a:r>
              <a:rPr lang="fr-FR" dirty="0"/>
              <a:t>Comme elles sont isolées (chacun sur sa branche), elle ne sont pas au courant jusqu’à ce que leurs branches soient amenées à être comparées, au moment d’une fusion (ou d’un rebase).</a:t>
            </a:r>
          </a:p>
          <a:p>
            <a:endParaRPr lang="fr-FR" dirty="0"/>
          </a:p>
          <a:p>
            <a:r>
              <a:rPr lang="fr-FR" dirty="0"/>
              <a:t>Ici on a modifié une ligne dans le même fichier, mais </a:t>
            </a:r>
            <a:r>
              <a:rPr lang="fr-FR" dirty="0" err="1"/>
              <a:t>différement</a:t>
            </a:r>
            <a:r>
              <a:rPr lang="fr-FR" dirty="0"/>
              <a:t>. Qui a raison ? </a:t>
            </a:r>
          </a:p>
          <a:p>
            <a:endParaRPr lang="fr-FR" dirty="0"/>
          </a:p>
          <a:p>
            <a:r>
              <a:rPr lang="fr-FR" dirty="0"/>
              <a:t>Autre exemple, chacun aurait pu renommer le fichier msg.txt différemment (et le code y faisant référence aurait également un conflit)                  . Idem : qui a raison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5</a:t>
            </a:fld>
            <a:endParaRPr lang="fr-FR"/>
          </a:p>
        </p:txBody>
      </p:sp>
    </p:spTree>
    <p:extLst>
      <p:ext uri="{BB962C8B-B14F-4D97-AF65-F5344CB8AC3E}">
        <p14:creationId xmlns:p14="http://schemas.microsoft.com/office/powerpoint/2010/main" val="1002345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conflits arrivent souvent parce que deux personnes / équipes ont pris une décision différente face à un même choix.</a:t>
            </a:r>
            <a:br>
              <a:rPr lang="fr-FR" dirty="0"/>
            </a:br>
            <a:r>
              <a:rPr lang="fr-FR" dirty="0"/>
              <a:t>On réalise qu'un fichier n'est pas au bon endroit, et un développeur le met dans un sous-répertoire, là où un autre le met dans un sous-répertoire nommé différemment.</a:t>
            </a:r>
            <a:br>
              <a:rPr lang="fr-FR" dirty="0"/>
            </a:br>
            <a:r>
              <a:rPr lang="fr-FR" dirty="0"/>
              <a:t>Deux équipes voient le besoin de refactoriser une </a:t>
            </a:r>
            <a:r>
              <a:rPr lang="fr-FR" dirty="0" err="1"/>
              <a:t>fonctionalité</a:t>
            </a:r>
            <a:r>
              <a:rPr lang="fr-FR" dirty="0"/>
              <a:t> commune pour avancer sur leur branche, mais s'y prennent de manière différentes...</a:t>
            </a:r>
          </a:p>
          <a:p>
            <a:r>
              <a:rPr lang="fr-FR" dirty="0"/>
              <a:t>Le point commun de ces exemples, c'est le manque de communication.</a:t>
            </a:r>
            <a:br>
              <a:rPr lang="fr-FR" dirty="0"/>
            </a:br>
            <a:r>
              <a:rPr lang="fr-FR" dirty="0"/>
              <a:t>Un conflit doit forcément mener à une prise de contact, à une discussion, à une conversation.</a:t>
            </a:r>
          </a:p>
          <a:p>
            <a:endParaRPr lang="fr-FR" dirty="0"/>
          </a:p>
          <a:p>
            <a:r>
              <a:rPr lang="fr-FR" dirty="0"/>
              <a:t>On peut soit éviter les conflits en prenant les mêmes décisions, parce qu’on a les mêmes références, parce qu’on a discuté des problèmes en amont et qu’on a décidé.</a:t>
            </a:r>
          </a:p>
          <a:p>
            <a:r>
              <a:rPr lang="fr-FR" dirty="0"/>
              <a:t>Ou alors on peut les résoudre quand ils arrivent, en discutant, en faisant un point, en demandant à une référence (personne ou document).</a:t>
            </a:r>
          </a:p>
          <a:p>
            <a:endParaRPr lang="fr-FR" dirty="0"/>
          </a:p>
          <a:p>
            <a:r>
              <a:rPr lang="fr-FR" dirty="0"/>
              <a:t>Le truc à retenir c’est que plus on attend pour partager, plus une branche reste isolée, plus le risque de conflit augmente, et plus la résolution sera compliquée !</a:t>
            </a:r>
          </a:p>
          <a:p>
            <a:r>
              <a:rPr lang="fr-FR" dirty="0"/>
              <a:t>Parce qu’une décision en entraine une autre, et que plus on s’éloigne, plus il est difficile de revenir l’un vers l’autre.</a:t>
            </a:r>
          </a:p>
          <a:p>
            <a:endParaRPr lang="fr-FR" dirty="0"/>
          </a:p>
          <a:p>
            <a:r>
              <a:rPr lang="fr-FR" dirty="0"/>
              <a:t>Là on a vu en terme humains, mais concrètement, en terme de git, comment on se met au courant de ce que font les autres ?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6</a:t>
            </a:fld>
            <a:endParaRPr lang="fr-FR"/>
          </a:p>
        </p:txBody>
      </p:sp>
    </p:spTree>
    <p:extLst>
      <p:ext uri="{BB962C8B-B14F-4D97-AF65-F5344CB8AC3E}">
        <p14:creationId xmlns:p14="http://schemas.microsoft.com/office/powerpoint/2010/main" val="2397112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Situation théorique où on a deux branches divergentes.</a:t>
            </a:r>
          </a:p>
          <a:p>
            <a:endParaRPr lang="fr-FR" dirty="0"/>
          </a:p>
          <a:p>
            <a:r>
              <a:rPr lang="fr-FR" dirty="0"/>
              <a:t>On a commencé à développer un fix depuis le commit A. Le </a:t>
            </a:r>
            <a:r>
              <a:rPr lang="fr-FR" dirty="0" err="1"/>
              <a:t>traval</a:t>
            </a:r>
            <a:r>
              <a:rPr lang="fr-FR" dirty="0"/>
              <a:t> avance, mais pendant ce temps là une autre équipe a fait des modifications qu’elle a poussé sur la branche master.</a:t>
            </a:r>
          </a:p>
          <a:p>
            <a:r>
              <a:rPr lang="fr-FR" dirty="0"/>
              <a:t>Ne le sachant pas, l’équipe sur le fix a continué avec un commit D avant de recevoir la nouvelle.</a:t>
            </a:r>
          </a:p>
          <a:p>
            <a:r>
              <a:rPr lang="fr-FR" dirty="0"/>
              <a:t>Il faut maintenant intégrer les changements présents dans C pour éviter de trop dériver.</a:t>
            </a:r>
          </a:p>
          <a:p>
            <a:endParaRPr lang="fr-FR" dirty="0"/>
          </a:p>
          <a:p>
            <a:r>
              <a:rPr lang="fr-FR" dirty="0"/>
              <a:t>On peut soit faire une fusion C -&gt; D et créer un commit de fusion M</a:t>
            </a:r>
            <a:r>
              <a:rPr lang="fr-FR" baseline="-25000" dirty="0"/>
              <a:t>C</a:t>
            </a:r>
          </a:p>
          <a:p>
            <a:r>
              <a:rPr lang="fr-FR" baseline="0" dirty="0"/>
              <a:t>Ou bien alors on peut faire un rebase du fix depuis C (au lieu de A, donc)</a:t>
            </a:r>
          </a:p>
          <a:p>
            <a:endParaRPr lang="fr-FR" baseline="0" dirty="0"/>
          </a:p>
          <a:p>
            <a:r>
              <a:rPr lang="fr-FR" baseline="0" dirty="0"/>
              <a:t>Le résultat au niveau du code sera le même, évidemment ! Mais au niveau de la chronologie, c’est un peu différent.</a:t>
            </a:r>
          </a:p>
          <a:p>
            <a:endParaRPr lang="fr-FR" baseline="0" dirty="0"/>
          </a:p>
          <a:p>
            <a:r>
              <a:rPr lang="fr-FR" baseline="0" dirty="0"/>
              <a:t>De nos jours, le rebase est préféré car plus propre, mais on perd un peu d’historique. Surtout si on profite du rebase pour faire un squash et ne garder que D’ par exemple.</a:t>
            </a:r>
          </a:p>
          <a:p>
            <a:endParaRPr lang="fr-FR" baseline="0" dirty="0"/>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7</a:t>
            </a:fld>
            <a:endParaRPr lang="fr-FR"/>
          </a:p>
        </p:txBody>
      </p:sp>
    </p:spTree>
    <p:extLst>
      <p:ext uri="{BB962C8B-B14F-4D97-AF65-F5344CB8AC3E}">
        <p14:creationId xmlns:p14="http://schemas.microsoft.com/office/powerpoint/2010/main" val="3263896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Si on met à jour régulièrement, on peut voir qu’après un certain temps, les deux méthodes ont des résultats différents.</a:t>
            </a:r>
          </a:p>
          <a:p>
            <a:r>
              <a:rPr lang="fr-FR" dirty="0"/>
              <a:t>La méthode avec des fusions semble un peu plus dure à lire, par contre on garde une vraie chronologie.</a:t>
            </a:r>
          </a:p>
          <a:p>
            <a:r>
              <a:rPr lang="fr-FR" dirty="0"/>
              <a:t>La méthode avec des rebase est claire mais on perd la réalité (développement à partir de A)</a:t>
            </a:r>
          </a:p>
          <a:p>
            <a:endParaRPr lang="fr-FR" dirty="0"/>
          </a:p>
          <a:p>
            <a:r>
              <a:rPr lang="fr-FR" dirty="0"/>
              <a:t>La différence finale, c’est au moment de la fusion : la méthode rebase nous positionne en tête de la branche master, pour faire une fusion « fast-</a:t>
            </a:r>
            <a:r>
              <a:rPr lang="fr-FR" dirty="0" err="1"/>
              <a:t>forward</a:t>
            </a:r>
            <a:r>
              <a:rPr lang="fr-FR" dirty="0"/>
              <a:t> » ET avec un « squash » qui fait disparaitre tout l’historique du fix.</a:t>
            </a:r>
          </a:p>
          <a:p>
            <a:r>
              <a:rPr lang="fr-FR" dirty="0"/>
              <a:t>C’est l’approche extrême, où on ne s’intéresse qu’à la solution apportée, et pas forcément à tout son historique.</a:t>
            </a:r>
          </a:p>
          <a:p>
            <a:endParaRPr lang="fr-FR" dirty="0"/>
          </a:p>
          <a:p>
            <a:r>
              <a:rPr lang="fr-FR" dirty="0"/>
              <a:t>Ça peut se comprendre dans certaines circonstances :  a-t-on vraiment besoin de conserver toutes les hésitations, les erreurs, les retours en arrière qu’a fait un développeur seul développant une solution à un problème en une journée ? Pas vraiment. Donc on écrase B D F et H et on crée un seul commit H</a:t>
            </a:r>
            <a:r>
              <a:rPr lang="fr-FR" baseline="-25000" dirty="0"/>
              <a:t>2</a:t>
            </a:r>
            <a:r>
              <a:rPr lang="fr-FR" dirty="0"/>
              <a:t> qui représente toute la branche fix/toto</a:t>
            </a:r>
          </a:p>
          <a:p>
            <a:endParaRPr lang="fr-FR" dirty="0"/>
          </a:p>
          <a:p>
            <a:r>
              <a:rPr lang="fr-FR" dirty="0"/>
              <a:t>Notez ici on a utilisé la commande git merge fix/toto --squash qui indique à git de créer un commit de fusion qui écrase tout le contenu de la branche en un seul commit. MAIS le commit n’est pas créé ! Il faut le finaliser manuellement. L’option --squash va mettre tous les fichiers dans l’index mais laisse à l’utilisateur le soin de faire le commit.</a:t>
            </a:r>
          </a:p>
          <a:p>
            <a:endParaRPr lang="fr-FR" dirty="0"/>
          </a:p>
          <a:p>
            <a:r>
              <a:rPr lang="fr-FR" dirty="0"/>
              <a:t>Pour ceux qui ont suivi : pourquoi ai-je appelé les commit de la branche fix/toto avec des indices ? </a:t>
            </a:r>
          </a:p>
          <a:p>
            <a:r>
              <a:rPr lang="fr-FR" dirty="0"/>
              <a:t>Parce que si vous vous souvenez de comment marche un rebase, on prend un commit et on le recrée donc quand on fait un rebase de B et D au lieu de faire une fusion, on crée une première copie B’ et D’ puis </a:t>
            </a:r>
            <a:r>
              <a:rPr lang="fr-FR" dirty="0" err="1"/>
              <a:t>quandon</a:t>
            </a:r>
            <a:r>
              <a:rPr lang="fr-FR" dirty="0"/>
              <a:t> fait le rebase après le commit F on crée B</a:t>
            </a:r>
            <a:r>
              <a:rPr lang="fr-FR" baseline="-25000" dirty="0"/>
              <a:t>2</a:t>
            </a:r>
            <a:r>
              <a:rPr lang="fr-FR" dirty="0"/>
              <a:t> D</a:t>
            </a:r>
            <a:r>
              <a:rPr lang="fr-FR" baseline="-25000" dirty="0"/>
              <a:t>2</a:t>
            </a:r>
            <a:r>
              <a:rPr lang="fr-FR" dirty="0"/>
              <a:t> et F’ et enfin quand on fait le rebase final pour prendre en compte G, on crée B</a:t>
            </a:r>
            <a:r>
              <a:rPr lang="fr-FR" baseline="-25000" dirty="0"/>
              <a:t>3</a:t>
            </a:r>
            <a:r>
              <a:rPr lang="fr-FR" dirty="0"/>
              <a:t>, D</a:t>
            </a:r>
            <a:r>
              <a:rPr lang="fr-FR" baseline="-25000" dirty="0"/>
              <a:t>3</a:t>
            </a:r>
            <a:r>
              <a:rPr lang="fr-FR" dirty="0"/>
              <a:t>, F</a:t>
            </a:r>
            <a:r>
              <a:rPr lang="fr-FR" baseline="-25000" dirty="0"/>
              <a:t>2</a:t>
            </a:r>
            <a:r>
              <a:rPr lang="fr-FR" dirty="0"/>
              <a:t> et H’. Enfin on fait une fusion squash (parce qu’on n’a pas envie de garder B, D et F, en fait ) donc on crée H</a:t>
            </a:r>
            <a:r>
              <a:rPr lang="fr-FR" baseline="-25000" dirty="0"/>
              <a:t>2</a:t>
            </a:r>
            <a:r>
              <a:rPr lang="fr-FR" dirty="0"/>
              <a:t>.</a:t>
            </a:r>
          </a:p>
          <a:p>
            <a:r>
              <a:rPr lang="fr-FR" dirty="0"/>
              <a:t>Donc on ne peut pas dire que les rebase soient plus économiques, c’est juste qu’on ne voit pas tous les </a:t>
            </a:r>
            <a:r>
              <a:rPr lang="fr-FR" dirty="0" err="1"/>
              <a:t>commits</a:t>
            </a:r>
            <a:r>
              <a:rPr lang="fr-FR" dirty="0"/>
              <a:t> qui sont créés (à part dans le </a:t>
            </a:r>
            <a:r>
              <a:rPr lang="fr-FR" dirty="0" err="1"/>
              <a:t>reflog</a:t>
            </a:r>
            <a:r>
              <a:rPr lang="fr-FR" dirty="0"/>
              <a:t> qui doit être rapidement illisible…)</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8</a:t>
            </a:fld>
            <a:endParaRPr lang="fr-FR"/>
          </a:p>
        </p:txBody>
      </p:sp>
    </p:spTree>
    <p:extLst>
      <p:ext uri="{BB962C8B-B14F-4D97-AF65-F5344CB8AC3E}">
        <p14:creationId xmlns:p14="http://schemas.microsoft.com/office/powerpoint/2010/main" val="3908176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err="1"/>
              <a:t>Normalement</a:t>
            </a:r>
            <a:r>
              <a:rPr lang="en-IE" dirty="0"/>
              <a:t> on </a:t>
            </a:r>
            <a:r>
              <a:rPr lang="en-IE" dirty="0" err="1"/>
              <a:t>l’a</a:t>
            </a:r>
            <a:r>
              <a:rPr lang="en-IE" dirty="0"/>
              <a:t> vu, la </a:t>
            </a:r>
            <a:r>
              <a:rPr lang="en-IE" dirty="0" err="1"/>
              <a:t>commande</a:t>
            </a:r>
            <a:r>
              <a:rPr lang="en-IE" dirty="0"/>
              <a:t> merge </a:t>
            </a:r>
            <a:r>
              <a:rPr lang="en-IE" dirty="0" err="1"/>
              <a:t>va</a:t>
            </a:r>
            <a:r>
              <a:rPr lang="en-IE" dirty="0"/>
              <a:t> </a:t>
            </a:r>
            <a:r>
              <a:rPr lang="en-IE" dirty="0" err="1"/>
              <a:t>créer</a:t>
            </a:r>
            <a:r>
              <a:rPr lang="en-IE" dirty="0"/>
              <a:t> un commit de fusion, qui a deux parents. La </a:t>
            </a:r>
            <a:r>
              <a:rPr lang="en-IE" dirty="0" err="1"/>
              <a:t>majorité</a:t>
            </a:r>
            <a:r>
              <a:rPr lang="en-IE" dirty="0"/>
              <a:t> du temps </a:t>
            </a:r>
            <a:r>
              <a:rPr lang="en-IE" dirty="0" err="1"/>
              <a:t>ce</a:t>
            </a:r>
            <a:r>
              <a:rPr lang="en-IE" dirty="0"/>
              <a:t> commit ne </a:t>
            </a:r>
            <a:r>
              <a:rPr lang="en-IE" dirty="0" err="1"/>
              <a:t>va</a:t>
            </a:r>
            <a:r>
              <a:rPr lang="en-IE" dirty="0"/>
              <a:t> rien faire, </a:t>
            </a:r>
            <a:r>
              <a:rPr lang="en-IE" dirty="0" err="1"/>
              <a:t>sauf</a:t>
            </a:r>
            <a:r>
              <a:rPr lang="en-IE" dirty="0"/>
              <a:t> </a:t>
            </a:r>
            <a:r>
              <a:rPr lang="en-IE" dirty="0" err="1"/>
              <a:t>si</a:t>
            </a:r>
            <a:r>
              <a:rPr lang="en-IE" dirty="0"/>
              <a:t> bien </a:t>
            </a:r>
            <a:r>
              <a:rPr lang="en-IE" dirty="0" err="1"/>
              <a:t>sûr</a:t>
            </a:r>
            <a:r>
              <a:rPr lang="en-IE" dirty="0"/>
              <a:t> on a </a:t>
            </a:r>
            <a:r>
              <a:rPr lang="en-IE" dirty="0" err="1"/>
              <a:t>eu</a:t>
            </a:r>
            <a:r>
              <a:rPr lang="en-IE" dirty="0"/>
              <a:t> des </a:t>
            </a:r>
            <a:r>
              <a:rPr lang="en-IE" dirty="0" err="1"/>
              <a:t>conflits</a:t>
            </a:r>
            <a:r>
              <a:rPr lang="en-IE" dirty="0"/>
              <a:t>.</a:t>
            </a:r>
          </a:p>
          <a:p>
            <a:endParaRPr lang="en-IE" dirty="0"/>
          </a:p>
          <a:p>
            <a:r>
              <a:rPr lang="en-IE" dirty="0"/>
              <a:t>Mais par </a:t>
            </a:r>
            <a:r>
              <a:rPr lang="en-IE" dirty="0" err="1"/>
              <a:t>défaut</a:t>
            </a:r>
            <a:r>
              <a:rPr lang="en-IE" dirty="0"/>
              <a:t>, </a:t>
            </a:r>
            <a:r>
              <a:rPr lang="en-IE" dirty="0" err="1"/>
              <a:t>si</a:t>
            </a:r>
            <a:r>
              <a:rPr lang="en-IE" dirty="0"/>
              <a:t> git </a:t>
            </a:r>
            <a:r>
              <a:rPr lang="en-IE" dirty="0" err="1"/>
              <a:t>voit</a:t>
            </a:r>
            <a:r>
              <a:rPr lang="en-IE" dirty="0"/>
              <a:t> </a:t>
            </a:r>
            <a:r>
              <a:rPr lang="en-IE" dirty="0" err="1"/>
              <a:t>que</a:t>
            </a:r>
            <a:r>
              <a:rPr lang="en-IE" dirty="0"/>
              <a:t> la </a:t>
            </a:r>
            <a:r>
              <a:rPr lang="en-IE" dirty="0" err="1"/>
              <a:t>branche</a:t>
            </a:r>
            <a:r>
              <a:rPr lang="en-IE" dirty="0"/>
              <a:t> </a:t>
            </a:r>
            <a:r>
              <a:rPr lang="en-IE" dirty="0" err="1"/>
              <a:t>cible</a:t>
            </a:r>
            <a:r>
              <a:rPr lang="en-IE" dirty="0"/>
              <a:t> </a:t>
            </a:r>
            <a:r>
              <a:rPr lang="en-IE" dirty="0" err="1"/>
              <a:t>n’a</a:t>
            </a:r>
            <a:r>
              <a:rPr lang="en-IE" dirty="0"/>
              <a:t> pas </a:t>
            </a:r>
            <a:r>
              <a:rPr lang="en-IE" dirty="0" err="1"/>
              <a:t>eu</a:t>
            </a:r>
            <a:r>
              <a:rPr lang="en-IE" dirty="0"/>
              <a:t> de commits entre temps, il </a:t>
            </a:r>
            <a:r>
              <a:rPr lang="en-IE" dirty="0" err="1"/>
              <a:t>n’y</a:t>
            </a:r>
            <a:r>
              <a:rPr lang="en-IE" dirty="0"/>
              <a:t> a </a:t>
            </a:r>
            <a:r>
              <a:rPr lang="en-IE" dirty="0" err="1"/>
              <a:t>donc</a:t>
            </a:r>
            <a:r>
              <a:rPr lang="en-IE" dirty="0"/>
              <a:t> </a:t>
            </a:r>
            <a:r>
              <a:rPr lang="en-IE" dirty="0" err="1"/>
              <a:t>strictement</a:t>
            </a:r>
            <a:r>
              <a:rPr lang="en-IE" dirty="0"/>
              <a:t> </a:t>
            </a:r>
            <a:r>
              <a:rPr lang="en-IE" dirty="0" err="1"/>
              <a:t>aucune</a:t>
            </a:r>
            <a:r>
              <a:rPr lang="en-IE" dirty="0"/>
              <a:t> raison </a:t>
            </a:r>
            <a:r>
              <a:rPr lang="en-IE" dirty="0" err="1"/>
              <a:t>qu’un</a:t>
            </a:r>
            <a:r>
              <a:rPr lang="en-IE" dirty="0"/>
              <a:t> </a:t>
            </a:r>
            <a:r>
              <a:rPr lang="en-IE" dirty="0" err="1"/>
              <a:t>conflit</a:t>
            </a:r>
            <a:r>
              <a:rPr lang="en-IE" dirty="0"/>
              <a:t> </a:t>
            </a:r>
            <a:r>
              <a:rPr lang="en-IE" dirty="0" err="1"/>
              <a:t>survienne</a:t>
            </a:r>
            <a:r>
              <a:rPr lang="en-IE" dirty="0"/>
              <a:t>.</a:t>
            </a:r>
          </a:p>
          <a:p>
            <a:r>
              <a:rPr lang="en-IE" dirty="0"/>
              <a:t>Dans </a:t>
            </a:r>
            <a:r>
              <a:rPr lang="en-IE" dirty="0" err="1"/>
              <a:t>ce</a:t>
            </a:r>
            <a:r>
              <a:rPr lang="en-IE" dirty="0"/>
              <a:t> </a:t>
            </a:r>
            <a:r>
              <a:rPr lang="en-IE" dirty="0" err="1"/>
              <a:t>cas</a:t>
            </a:r>
            <a:r>
              <a:rPr lang="en-IE" dirty="0"/>
              <a:t>, git </a:t>
            </a:r>
            <a:r>
              <a:rPr lang="en-IE" dirty="0" err="1"/>
              <a:t>va</a:t>
            </a:r>
            <a:r>
              <a:rPr lang="en-IE" dirty="0"/>
              <a:t> </a:t>
            </a:r>
            <a:r>
              <a:rPr lang="en-IE" dirty="0" err="1"/>
              <a:t>simplement</a:t>
            </a:r>
            <a:r>
              <a:rPr lang="en-IE" dirty="0"/>
              <a:t> </a:t>
            </a:r>
            <a:r>
              <a:rPr lang="en-IE" dirty="0" err="1"/>
              <a:t>déplacer</a:t>
            </a:r>
            <a:r>
              <a:rPr lang="en-IE" dirty="0"/>
              <a:t> le </a:t>
            </a:r>
            <a:r>
              <a:rPr lang="en-IE" dirty="0" err="1"/>
              <a:t>pointeur</a:t>
            </a:r>
            <a:r>
              <a:rPr lang="en-IE" dirty="0"/>
              <a:t> de la </a:t>
            </a:r>
            <a:r>
              <a:rPr lang="en-IE" dirty="0" err="1"/>
              <a:t>branche</a:t>
            </a:r>
            <a:r>
              <a:rPr lang="en-IE" dirty="0"/>
              <a:t> master vers C et </a:t>
            </a:r>
            <a:r>
              <a:rPr lang="en-IE" dirty="0" err="1"/>
              <a:t>ainsi</a:t>
            </a:r>
            <a:r>
              <a:rPr lang="en-IE" dirty="0"/>
              <a:t> </a:t>
            </a:r>
            <a:r>
              <a:rPr lang="en-IE" dirty="0" err="1"/>
              <a:t>fusionner</a:t>
            </a:r>
            <a:r>
              <a:rPr lang="en-IE" dirty="0"/>
              <a:t> la </a:t>
            </a:r>
            <a:r>
              <a:rPr lang="en-IE" dirty="0" err="1"/>
              <a:t>branche</a:t>
            </a:r>
            <a:r>
              <a:rPr lang="en-IE" dirty="0"/>
              <a:t>.</a:t>
            </a:r>
          </a:p>
          <a:p>
            <a:endParaRPr lang="en-IE" dirty="0"/>
          </a:p>
          <a:p>
            <a:r>
              <a:rPr lang="en-IE" dirty="0"/>
              <a:t>Ce </a:t>
            </a:r>
            <a:r>
              <a:rPr lang="en-IE" dirty="0" err="1"/>
              <a:t>comportement</a:t>
            </a:r>
            <a:r>
              <a:rPr lang="en-IE" dirty="0"/>
              <a:t> est </a:t>
            </a:r>
            <a:r>
              <a:rPr lang="en-IE" dirty="0" err="1"/>
              <a:t>appelé</a:t>
            </a:r>
            <a:r>
              <a:rPr lang="en-IE" dirty="0"/>
              <a:t> “</a:t>
            </a:r>
            <a:r>
              <a:rPr lang="en-IE" i="1" dirty="0"/>
              <a:t>fast-forward</a:t>
            </a:r>
            <a:r>
              <a:rPr lang="en-IE" dirty="0"/>
              <a:t>” </a:t>
            </a:r>
            <a:r>
              <a:rPr lang="en-IE" dirty="0" err="1"/>
              <a:t>puisqu’effectivement</a:t>
            </a:r>
            <a:r>
              <a:rPr lang="en-IE" dirty="0"/>
              <a:t> on ne fait </a:t>
            </a:r>
            <a:r>
              <a:rPr lang="en-IE" dirty="0" err="1"/>
              <a:t>que</a:t>
            </a:r>
            <a:r>
              <a:rPr lang="en-IE" dirty="0"/>
              <a:t> </a:t>
            </a:r>
            <a:r>
              <a:rPr lang="en-IE" dirty="0" err="1"/>
              <a:t>déplacer</a:t>
            </a:r>
            <a:r>
              <a:rPr lang="en-IE" dirty="0"/>
              <a:t> un </a:t>
            </a:r>
            <a:r>
              <a:rPr lang="en-IE" dirty="0" err="1"/>
              <a:t>curseur</a:t>
            </a:r>
            <a:r>
              <a:rPr lang="en-IE" dirty="0"/>
              <a:t> vers la fin du film, </a:t>
            </a:r>
            <a:r>
              <a:rPr lang="en-IE" dirty="0" err="1"/>
              <a:t>en</a:t>
            </a:r>
            <a:r>
              <a:rPr lang="en-IE" dirty="0"/>
              <a:t> quelque </a:t>
            </a:r>
            <a:r>
              <a:rPr lang="en-IE" dirty="0" err="1"/>
              <a:t>sorte</a:t>
            </a:r>
            <a:r>
              <a:rPr lang="en-IE" dirty="0"/>
              <a:t>.</a:t>
            </a:r>
          </a:p>
        </p:txBody>
      </p:sp>
      <p:sp>
        <p:nvSpPr>
          <p:cNvPr id="4" name="Slide Number Placeholder 3"/>
          <p:cNvSpPr>
            <a:spLocks noGrp="1"/>
          </p:cNvSpPr>
          <p:nvPr>
            <p:ph type="sldNum" sz="quarter" idx="5"/>
          </p:nvPr>
        </p:nvSpPr>
        <p:spPr/>
        <p:txBody>
          <a:bodyPr/>
          <a:lstStyle/>
          <a:p>
            <a:fld id="{E5771A9F-1700-46FF-B6E9-7591AA9C8781}" type="slidenum">
              <a:rPr lang="fr-FR" smtClean="0"/>
              <a:t>9</a:t>
            </a:fld>
            <a:endParaRPr lang="fr-FR"/>
          </a:p>
        </p:txBody>
      </p:sp>
    </p:spTree>
    <p:extLst>
      <p:ext uri="{BB962C8B-B14F-4D97-AF65-F5344CB8AC3E}">
        <p14:creationId xmlns:p14="http://schemas.microsoft.com/office/powerpoint/2010/main" val="1837935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err="1"/>
              <a:t>Ici</a:t>
            </a:r>
            <a:r>
              <a:rPr lang="en-IE" dirty="0"/>
              <a:t> on a </a:t>
            </a:r>
            <a:r>
              <a:rPr lang="en-IE" dirty="0" err="1"/>
              <a:t>utilisé</a:t>
            </a:r>
            <a:r>
              <a:rPr lang="en-IE" dirty="0"/>
              <a:t> </a:t>
            </a:r>
            <a:r>
              <a:rPr lang="en-IE" dirty="0" err="1"/>
              <a:t>l’option</a:t>
            </a:r>
            <a:r>
              <a:rPr lang="en-IE" dirty="0"/>
              <a:t> et </a:t>
            </a:r>
            <a:r>
              <a:rPr lang="en-IE" dirty="0" err="1"/>
              <a:t>donc</a:t>
            </a:r>
            <a:r>
              <a:rPr lang="en-IE" dirty="0"/>
              <a:t> un commit de fusion est </a:t>
            </a:r>
            <a:r>
              <a:rPr lang="en-IE" dirty="0" err="1"/>
              <a:t>explicitement</a:t>
            </a:r>
            <a:r>
              <a:rPr lang="en-IE" dirty="0"/>
              <a:t> </a:t>
            </a:r>
            <a:r>
              <a:rPr lang="en-IE" dirty="0" err="1"/>
              <a:t>créé</a:t>
            </a:r>
            <a:r>
              <a:rPr lang="en-IE" dirty="0"/>
              <a:t> </a:t>
            </a:r>
            <a:r>
              <a:rPr lang="en-IE" dirty="0" err="1"/>
              <a:t>même</a:t>
            </a:r>
            <a:r>
              <a:rPr lang="en-IE" dirty="0"/>
              <a:t> </a:t>
            </a:r>
            <a:r>
              <a:rPr lang="en-IE" dirty="0" err="1"/>
              <a:t>si</a:t>
            </a:r>
            <a:r>
              <a:rPr lang="en-IE" dirty="0"/>
              <a:t> on </a:t>
            </a:r>
            <a:r>
              <a:rPr lang="en-IE" dirty="0" err="1"/>
              <a:t>n’a</a:t>
            </a:r>
            <a:r>
              <a:rPr lang="en-IE" dirty="0"/>
              <a:t> </a:t>
            </a:r>
            <a:r>
              <a:rPr lang="en-IE" dirty="0" err="1"/>
              <a:t>aucune</a:t>
            </a:r>
            <a:r>
              <a:rPr lang="en-IE" dirty="0"/>
              <a:t> </a:t>
            </a:r>
            <a:r>
              <a:rPr lang="en-IE" dirty="0" err="1"/>
              <a:t>possibilité</a:t>
            </a:r>
            <a:r>
              <a:rPr lang="en-IE" dirty="0"/>
              <a:t> </a:t>
            </a:r>
            <a:r>
              <a:rPr lang="en-IE" dirty="0" err="1"/>
              <a:t>d’avoir</a:t>
            </a:r>
            <a:r>
              <a:rPr lang="en-IE" dirty="0"/>
              <a:t> un </a:t>
            </a:r>
            <a:r>
              <a:rPr lang="en-IE" dirty="0" err="1"/>
              <a:t>conflit</a:t>
            </a:r>
            <a:r>
              <a:rPr lang="en-IE" dirty="0"/>
              <a:t> entre master et fix/toto.</a:t>
            </a:r>
          </a:p>
          <a:p>
            <a:r>
              <a:rPr lang="en-IE" dirty="0" err="1"/>
              <a:t>Ça</a:t>
            </a:r>
            <a:r>
              <a:rPr lang="en-IE" dirty="0"/>
              <a:t> </a:t>
            </a:r>
            <a:r>
              <a:rPr lang="en-IE" dirty="0" err="1"/>
              <a:t>peut</a:t>
            </a:r>
            <a:r>
              <a:rPr lang="en-IE" dirty="0"/>
              <a:t> se justifier dans le cadre </a:t>
            </a:r>
            <a:r>
              <a:rPr lang="en-IE" dirty="0" err="1"/>
              <a:t>d’une</a:t>
            </a:r>
            <a:r>
              <a:rPr lang="en-IE" dirty="0"/>
              <a:t> </a:t>
            </a:r>
            <a:r>
              <a:rPr lang="en-IE" dirty="0" err="1"/>
              <a:t>méthode</a:t>
            </a:r>
            <a:r>
              <a:rPr lang="en-IE" dirty="0"/>
              <a:t> de travail </a:t>
            </a:r>
            <a:r>
              <a:rPr lang="en-IE" dirty="0" err="1"/>
              <a:t>où</a:t>
            </a:r>
            <a:r>
              <a:rPr lang="en-IE" dirty="0"/>
              <a:t> le commit de fusion </a:t>
            </a:r>
            <a:r>
              <a:rPr lang="en-IE" dirty="0" err="1"/>
              <a:t>contient</a:t>
            </a:r>
            <a:r>
              <a:rPr lang="en-IE" dirty="0"/>
              <a:t> des </a:t>
            </a:r>
            <a:r>
              <a:rPr lang="en-IE" dirty="0" err="1"/>
              <a:t>infos</a:t>
            </a:r>
            <a:r>
              <a:rPr lang="en-IE" dirty="0"/>
              <a:t> </a:t>
            </a:r>
            <a:r>
              <a:rPr lang="en-IE" dirty="0" err="1"/>
              <a:t>utiles</a:t>
            </a:r>
            <a:r>
              <a:rPr lang="en-IE" dirty="0"/>
              <a:t>.</a:t>
            </a:r>
          </a:p>
        </p:txBody>
      </p:sp>
      <p:sp>
        <p:nvSpPr>
          <p:cNvPr id="4" name="Slide Number Placeholder 3"/>
          <p:cNvSpPr>
            <a:spLocks noGrp="1"/>
          </p:cNvSpPr>
          <p:nvPr>
            <p:ph type="sldNum" sz="quarter" idx="5"/>
          </p:nvPr>
        </p:nvSpPr>
        <p:spPr/>
        <p:txBody>
          <a:bodyPr/>
          <a:lstStyle/>
          <a:p>
            <a:fld id="{E5771A9F-1700-46FF-B6E9-7591AA9C8781}" type="slidenum">
              <a:rPr lang="fr-FR" smtClean="0"/>
              <a:t>10</a:t>
            </a:fld>
            <a:endParaRPr lang="fr-FR"/>
          </a:p>
        </p:txBody>
      </p:sp>
    </p:spTree>
    <p:extLst>
      <p:ext uri="{BB962C8B-B14F-4D97-AF65-F5344CB8AC3E}">
        <p14:creationId xmlns:p14="http://schemas.microsoft.com/office/powerpoint/2010/main" val="234402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err="1"/>
              <a:t>Ici</a:t>
            </a:r>
            <a:r>
              <a:rPr lang="en-IE" dirty="0"/>
              <a:t> je </a:t>
            </a:r>
            <a:r>
              <a:rPr lang="en-IE" dirty="0" err="1"/>
              <a:t>voulais</a:t>
            </a:r>
            <a:r>
              <a:rPr lang="en-IE" dirty="0"/>
              <a:t> </a:t>
            </a:r>
            <a:r>
              <a:rPr lang="en-IE" dirty="0" err="1"/>
              <a:t>juste</a:t>
            </a:r>
            <a:r>
              <a:rPr lang="en-IE" dirty="0"/>
              <a:t> </a:t>
            </a:r>
            <a:r>
              <a:rPr lang="en-IE" dirty="0" err="1"/>
              <a:t>reprendre</a:t>
            </a:r>
            <a:r>
              <a:rPr lang="en-IE" dirty="0"/>
              <a:t> le concept de fusion avec </a:t>
            </a:r>
            <a:r>
              <a:rPr lang="en-IE" dirty="0" err="1"/>
              <a:t>écrasement</a:t>
            </a:r>
            <a:r>
              <a:rPr lang="en-IE" dirty="0"/>
              <a:t> de la slide 8.</a:t>
            </a:r>
          </a:p>
          <a:p>
            <a:r>
              <a:rPr lang="en-IE" dirty="0"/>
              <a:t>On </a:t>
            </a:r>
            <a:r>
              <a:rPr lang="en-IE" dirty="0" err="1"/>
              <a:t>pourrait</a:t>
            </a:r>
            <a:r>
              <a:rPr lang="en-IE" dirty="0"/>
              <a:t> faire un fast-forward </a:t>
            </a:r>
            <a:r>
              <a:rPr lang="en-IE" dirty="0" err="1"/>
              <a:t>mais</a:t>
            </a:r>
            <a:r>
              <a:rPr lang="en-IE" dirty="0"/>
              <a:t> </a:t>
            </a:r>
            <a:r>
              <a:rPr lang="en-IE" dirty="0" err="1"/>
              <a:t>si</a:t>
            </a:r>
            <a:r>
              <a:rPr lang="en-IE" dirty="0"/>
              <a:t> on imagine </a:t>
            </a:r>
            <a:r>
              <a:rPr lang="en-IE" dirty="0" err="1"/>
              <a:t>que</a:t>
            </a:r>
            <a:r>
              <a:rPr lang="en-IE" dirty="0"/>
              <a:t> </a:t>
            </a:r>
            <a:r>
              <a:rPr lang="en-IE" dirty="0" err="1"/>
              <a:t>notre</a:t>
            </a:r>
            <a:r>
              <a:rPr lang="en-IE" dirty="0"/>
              <a:t> fix </a:t>
            </a:r>
            <a:r>
              <a:rPr lang="en-IE" dirty="0" err="1"/>
              <a:t>contient</a:t>
            </a:r>
            <a:r>
              <a:rPr lang="en-IE" dirty="0"/>
              <a:t> un certain </a:t>
            </a:r>
            <a:r>
              <a:rPr lang="en-IE" dirty="0" err="1"/>
              <a:t>nombre</a:t>
            </a:r>
            <a:r>
              <a:rPr lang="en-IE" dirty="0"/>
              <a:t> de commits, est-</a:t>
            </a:r>
            <a:r>
              <a:rPr lang="en-IE" dirty="0" err="1"/>
              <a:t>ce</a:t>
            </a:r>
            <a:r>
              <a:rPr lang="en-IE" dirty="0"/>
              <a:t> </a:t>
            </a:r>
            <a:r>
              <a:rPr lang="en-IE" dirty="0" err="1"/>
              <a:t>qu’on</a:t>
            </a:r>
            <a:r>
              <a:rPr lang="en-IE" dirty="0"/>
              <a:t> a </a:t>
            </a:r>
            <a:r>
              <a:rPr lang="en-IE" dirty="0" err="1"/>
              <a:t>vraiment</a:t>
            </a:r>
            <a:r>
              <a:rPr lang="en-IE" dirty="0"/>
              <a:t> </a:t>
            </a:r>
            <a:r>
              <a:rPr lang="en-IE" dirty="0" err="1"/>
              <a:t>besoin</a:t>
            </a:r>
            <a:r>
              <a:rPr lang="en-IE" dirty="0"/>
              <a:t> de tout </a:t>
            </a:r>
            <a:r>
              <a:rPr lang="en-IE" dirty="0" err="1"/>
              <a:t>l’historique</a:t>
            </a:r>
            <a:r>
              <a:rPr lang="en-IE" dirty="0"/>
              <a:t> ? </a:t>
            </a:r>
          </a:p>
          <a:p>
            <a:r>
              <a:rPr lang="en-IE" dirty="0"/>
              <a:t>Dans </a:t>
            </a:r>
            <a:r>
              <a:rPr lang="en-IE" dirty="0" err="1"/>
              <a:t>certains</a:t>
            </a:r>
            <a:r>
              <a:rPr lang="en-IE" dirty="0"/>
              <a:t> </a:t>
            </a:r>
            <a:r>
              <a:rPr lang="en-IE" dirty="0" err="1"/>
              <a:t>cas</a:t>
            </a:r>
            <a:r>
              <a:rPr lang="en-IE" dirty="0"/>
              <a:t>, non. Ou bien </a:t>
            </a:r>
            <a:r>
              <a:rPr lang="en-IE" dirty="0" err="1"/>
              <a:t>c’est</a:t>
            </a:r>
            <a:r>
              <a:rPr lang="en-IE" dirty="0"/>
              <a:t> dans le cadre </a:t>
            </a:r>
            <a:r>
              <a:rPr lang="en-IE" dirty="0" err="1"/>
              <a:t>d’une</a:t>
            </a:r>
            <a:r>
              <a:rPr lang="en-IE" dirty="0"/>
              <a:t> </a:t>
            </a:r>
            <a:r>
              <a:rPr lang="en-IE" dirty="0" err="1"/>
              <a:t>méthodologie</a:t>
            </a:r>
            <a:r>
              <a:rPr lang="en-IE" dirty="0"/>
              <a:t> (Gitlab propose la fusion avec </a:t>
            </a:r>
            <a:r>
              <a:rPr lang="en-IE" dirty="0" err="1"/>
              <a:t>écrasement</a:t>
            </a:r>
            <a:r>
              <a:rPr lang="en-IE" dirty="0"/>
              <a:t> par </a:t>
            </a:r>
            <a:r>
              <a:rPr lang="en-IE" dirty="0" err="1"/>
              <a:t>défaut</a:t>
            </a:r>
            <a:r>
              <a:rPr lang="en-IE" dirty="0"/>
              <a:t>).</a:t>
            </a:r>
          </a:p>
          <a:p>
            <a:endParaRPr lang="en-IE" dirty="0"/>
          </a:p>
          <a:p>
            <a:r>
              <a:rPr lang="en-IE" dirty="0"/>
              <a:t>Pour faire </a:t>
            </a:r>
            <a:r>
              <a:rPr lang="en-IE" dirty="0" err="1"/>
              <a:t>ça</a:t>
            </a:r>
            <a:r>
              <a:rPr lang="en-IE" dirty="0"/>
              <a:t> </a:t>
            </a:r>
            <a:r>
              <a:rPr lang="en-IE" dirty="0" err="1"/>
              <a:t>manuellement</a:t>
            </a:r>
            <a:r>
              <a:rPr lang="en-IE" dirty="0"/>
              <a:t> on fait </a:t>
            </a:r>
            <a:r>
              <a:rPr lang="en-IE" dirty="0" err="1"/>
              <a:t>donc</a:t>
            </a:r>
            <a:r>
              <a:rPr lang="en-IE" dirty="0"/>
              <a:t> un merge normal </a:t>
            </a:r>
            <a:r>
              <a:rPr lang="en-IE" dirty="0" err="1"/>
              <a:t>mais</a:t>
            </a:r>
            <a:r>
              <a:rPr lang="en-IE" dirty="0"/>
              <a:t> avec </a:t>
            </a:r>
            <a:r>
              <a:rPr lang="en-IE" dirty="0" err="1"/>
              <a:t>l’option</a:t>
            </a:r>
            <a:r>
              <a:rPr lang="en-IE" dirty="0"/>
              <a:t> --squash.</a:t>
            </a:r>
          </a:p>
          <a:p>
            <a:r>
              <a:rPr lang="en-IE" dirty="0"/>
              <a:t>Le point important à bien noter </a:t>
            </a:r>
            <a:r>
              <a:rPr lang="en-IE" dirty="0" err="1"/>
              <a:t>c’est</a:t>
            </a:r>
            <a:r>
              <a:rPr lang="en-IE" dirty="0"/>
              <a:t> </a:t>
            </a:r>
            <a:r>
              <a:rPr lang="en-IE" dirty="0" err="1"/>
              <a:t>que</a:t>
            </a:r>
            <a:r>
              <a:rPr lang="en-IE" dirty="0"/>
              <a:t> </a:t>
            </a:r>
            <a:r>
              <a:rPr lang="en-IE" dirty="0" err="1"/>
              <a:t>cette</a:t>
            </a:r>
            <a:r>
              <a:rPr lang="en-IE" dirty="0"/>
              <a:t> </a:t>
            </a:r>
            <a:r>
              <a:rPr lang="en-IE" dirty="0" err="1"/>
              <a:t>commande</a:t>
            </a:r>
            <a:r>
              <a:rPr lang="en-IE" dirty="0"/>
              <a:t> NE CRÉE PAS LE COMMIT.</a:t>
            </a:r>
          </a:p>
          <a:p>
            <a:r>
              <a:rPr lang="en-IE" dirty="0"/>
              <a:t>Il met par </a:t>
            </a:r>
            <a:r>
              <a:rPr lang="en-IE" dirty="0" err="1"/>
              <a:t>contre</a:t>
            </a:r>
            <a:r>
              <a:rPr lang="en-IE" dirty="0"/>
              <a:t> </a:t>
            </a:r>
            <a:r>
              <a:rPr lang="en-IE" dirty="0" err="1"/>
              <a:t>toutes</a:t>
            </a:r>
            <a:r>
              <a:rPr lang="en-IE" dirty="0"/>
              <a:t> les modifications dans </a:t>
            </a:r>
            <a:r>
              <a:rPr lang="en-IE" dirty="0" err="1"/>
              <a:t>l’index</a:t>
            </a:r>
            <a:r>
              <a:rPr lang="en-IE" dirty="0"/>
              <a:t> </a:t>
            </a:r>
            <a:r>
              <a:rPr lang="en-IE" dirty="0" err="1"/>
              <a:t>donc</a:t>
            </a:r>
            <a:r>
              <a:rPr lang="en-IE" dirty="0"/>
              <a:t> on a </a:t>
            </a:r>
            <a:r>
              <a:rPr lang="en-IE" dirty="0" err="1"/>
              <a:t>juste</a:t>
            </a:r>
            <a:r>
              <a:rPr lang="en-IE" dirty="0"/>
              <a:t> à faire le commit.</a:t>
            </a:r>
          </a:p>
          <a:p>
            <a:endParaRPr lang="en-IE" dirty="0"/>
          </a:p>
          <a:p>
            <a:r>
              <a:rPr lang="en-IE" dirty="0" err="1"/>
              <a:t>Notez</a:t>
            </a:r>
            <a:r>
              <a:rPr lang="en-IE" dirty="0"/>
              <a:t> </a:t>
            </a:r>
            <a:r>
              <a:rPr lang="en-IE" dirty="0" err="1"/>
              <a:t>également</a:t>
            </a:r>
            <a:r>
              <a:rPr lang="en-IE" dirty="0"/>
              <a:t> </a:t>
            </a:r>
            <a:r>
              <a:rPr lang="en-IE" dirty="0" err="1"/>
              <a:t>que</a:t>
            </a:r>
            <a:r>
              <a:rPr lang="en-IE" dirty="0"/>
              <a:t> </a:t>
            </a:r>
            <a:r>
              <a:rPr lang="en-IE" dirty="0" err="1"/>
              <a:t>cette</a:t>
            </a:r>
            <a:r>
              <a:rPr lang="en-IE" dirty="0"/>
              <a:t> option </a:t>
            </a:r>
            <a:r>
              <a:rPr lang="en-IE" dirty="0" err="1"/>
              <a:t>n’a</a:t>
            </a:r>
            <a:r>
              <a:rPr lang="en-IE" dirty="0"/>
              <a:t> </a:t>
            </a:r>
            <a:r>
              <a:rPr lang="en-IE" dirty="0" err="1"/>
              <a:t>vraiment</a:t>
            </a:r>
            <a:r>
              <a:rPr lang="en-IE" dirty="0"/>
              <a:t> de </a:t>
            </a:r>
            <a:r>
              <a:rPr lang="en-IE" dirty="0" err="1"/>
              <a:t>sens</a:t>
            </a:r>
            <a:r>
              <a:rPr lang="en-IE" dirty="0"/>
              <a:t> </a:t>
            </a:r>
            <a:r>
              <a:rPr lang="en-IE" dirty="0" err="1"/>
              <a:t>que</a:t>
            </a:r>
            <a:r>
              <a:rPr lang="en-IE" dirty="0"/>
              <a:t> dans le </a:t>
            </a:r>
            <a:r>
              <a:rPr lang="en-IE" dirty="0" err="1"/>
              <a:t>cas</a:t>
            </a:r>
            <a:r>
              <a:rPr lang="en-IE" dirty="0"/>
              <a:t> d’un fast-forward, </a:t>
            </a:r>
            <a:r>
              <a:rPr lang="en-IE" dirty="0" err="1"/>
              <a:t>parce</a:t>
            </a:r>
            <a:r>
              <a:rPr lang="en-IE" dirty="0"/>
              <a:t> </a:t>
            </a:r>
            <a:r>
              <a:rPr lang="en-IE" dirty="0" err="1"/>
              <a:t>qu’un</a:t>
            </a:r>
            <a:r>
              <a:rPr lang="en-IE" dirty="0"/>
              <a:t> fast-forward normal </a:t>
            </a:r>
            <a:r>
              <a:rPr lang="en-IE" dirty="0" err="1"/>
              <a:t>va</a:t>
            </a:r>
            <a:r>
              <a:rPr lang="en-IE" dirty="0"/>
              <a:t> </a:t>
            </a:r>
            <a:r>
              <a:rPr lang="en-IE" dirty="0" err="1"/>
              <a:t>inclure</a:t>
            </a:r>
            <a:r>
              <a:rPr lang="en-IE" dirty="0"/>
              <a:t> TOUS les commits de la </a:t>
            </a:r>
            <a:r>
              <a:rPr lang="en-IE" dirty="0" err="1"/>
              <a:t>branche</a:t>
            </a:r>
            <a:r>
              <a:rPr lang="en-IE" dirty="0"/>
              <a:t>, </a:t>
            </a:r>
            <a:r>
              <a:rPr lang="en-IE" dirty="0" err="1"/>
              <a:t>là</a:t>
            </a:r>
            <a:r>
              <a:rPr lang="en-IE" dirty="0"/>
              <a:t> </a:t>
            </a:r>
            <a:r>
              <a:rPr lang="en-IE" dirty="0" err="1"/>
              <a:t>où</a:t>
            </a:r>
            <a:r>
              <a:rPr lang="en-IE" dirty="0"/>
              <a:t> </a:t>
            </a:r>
            <a:r>
              <a:rPr lang="en-IE" dirty="0" err="1"/>
              <a:t>une</a:t>
            </a:r>
            <a:r>
              <a:rPr lang="en-IE" dirty="0"/>
              <a:t> fusion </a:t>
            </a:r>
            <a:r>
              <a:rPr lang="en-IE" dirty="0" err="1"/>
              <a:t>classique</a:t>
            </a:r>
            <a:r>
              <a:rPr lang="en-IE" dirty="0"/>
              <a:t>, qui </a:t>
            </a:r>
            <a:r>
              <a:rPr lang="en-IE" dirty="0" err="1"/>
              <a:t>crée</a:t>
            </a:r>
            <a:r>
              <a:rPr lang="en-IE" dirty="0"/>
              <a:t> un commit de fusion, est </a:t>
            </a:r>
            <a:r>
              <a:rPr lang="en-IE" dirty="0" err="1"/>
              <a:t>équivalente</a:t>
            </a:r>
            <a:r>
              <a:rPr lang="en-IE" dirty="0"/>
              <a:t> à </a:t>
            </a:r>
            <a:r>
              <a:rPr lang="en-IE" dirty="0" err="1"/>
              <a:t>une</a:t>
            </a:r>
            <a:r>
              <a:rPr lang="en-IE" dirty="0"/>
              <a:t> fusion avec </a:t>
            </a:r>
            <a:r>
              <a:rPr lang="en-IE" dirty="0" err="1"/>
              <a:t>écrasement</a:t>
            </a:r>
            <a:r>
              <a:rPr lang="en-IE" dirty="0"/>
              <a:t>…</a:t>
            </a:r>
          </a:p>
        </p:txBody>
      </p:sp>
      <p:sp>
        <p:nvSpPr>
          <p:cNvPr id="4" name="Slide Number Placeholder 3"/>
          <p:cNvSpPr>
            <a:spLocks noGrp="1"/>
          </p:cNvSpPr>
          <p:nvPr>
            <p:ph type="sldNum" sz="quarter" idx="5"/>
          </p:nvPr>
        </p:nvSpPr>
        <p:spPr/>
        <p:txBody>
          <a:bodyPr/>
          <a:lstStyle/>
          <a:p>
            <a:fld id="{E5771A9F-1700-46FF-B6E9-7591AA9C8781}" type="slidenum">
              <a:rPr lang="fr-FR" smtClean="0"/>
              <a:t>11</a:t>
            </a:fld>
            <a:endParaRPr lang="fr-FR"/>
          </a:p>
        </p:txBody>
      </p:sp>
    </p:spTree>
    <p:extLst>
      <p:ext uri="{BB962C8B-B14F-4D97-AF65-F5344CB8AC3E}">
        <p14:creationId xmlns:p14="http://schemas.microsoft.com/office/powerpoint/2010/main" val="1600981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err="1"/>
              <a:t>Avoir</a:t>
            </a:r>
            <a:r>
              <a:rPr lang="en-IE" dirty="0"/>
              <a:t> un </a:t>
            </a:r>
            <a:r>
              <a:rPr lang="en-IE" dirty="0" err="1"/>
              <a:t>dépôt</a:t>
            </a:r>
            <a:r>
              <a:rPr lang="en-IE" dirty="0"/>
              <a:t> distant est utile </a:t>
            </a:r>
            <a:r>
              <a:rPr lang="en-IE" dirty="0" err="1"/>
              <a:t>même</a:t>
            </a:r>
            <a:r>
              <a:rPr lang="en-IE" dirty="0"/>
              <a:t> </a:t>
            </a:r>
            <a:r>
              <a:rPr lang="en-IE" dirty="0" err="1"/>
              <a:t>en</a:t>
            </a:r>
            <a:r>
              <a:rPr lang="en-IE" dirty="0"/>
              <a:t> </a:t>
            </a:r>
            <a:r>
              <a:rPr lang="en-IE" dirty="0" err="1"/>
              <a:t>développement</a:t>
            </a:r>
            <a:r>
              <a:rPr lang="en-IE" dirty="0"/>
              <a:t> solo !</a:t>
            </a:r>
          </a:p>
          <a:p>
            <a:r>
              <a:rPr lang="en-IE" dirty="0"/>
              <a:t>Par </a:t>
            </a:r>
            <a:r>
              <a:rPr lang="en-IE" dirty="0" err="1"/>
              <a:t>exemple</a:t>
            </a:r>
            <a:r>
              <a:rPr lang="en-IE" dirty="0"/>
              <a:t> tout </a:t>
            </a:r>
            <a:r>
              <a:rPr lang="en-IE" dirty="0" err="1"/>
              <a:t>mon</a:t>
            </a:r>
            <a:r>
              <a:rPr lang="en-IE" dirty="0"/>
              <a:t> travail sur </a:t>
            </a:r>
            <a:r>
              <a:rPr lang="en-IE" dirty="0" err="1"/>
              <a:t>ces</a:t>
            </a:r>
            <a:r>
              <a:rPr lang="en-IE" dirty="0"/>
              <a:t> </a:t>
            </a:r>
            <a:r>
              <a:rPr lang="en-IE" dirty="0" err="1"/>
              <a:t>cours</a:t>
            </a:r>
            <a:r>
              <a:rPr lang="en-IE" dirty="0"/>
              <a:t> a </a:t>
            </a:r>
            <a:r>
              <a:rPr lang="en-IE" dirty="0" err="1"/>
              <a:t>été</a:t>
            </a:r>
            <a:r>
              <a:rPr lang="en-IE" dirty="0"/>
              <a:t> </a:t>
            </a:r>
            <a:r>
              <a:rPr lang="en-IE" dirty="0" err="1"/>
              <a:t>déposé</a:t>
            </a:r>
            <a:r>
              <a:rPr lang="en-IE" dirty="0"/>
              <a:t> </a:t>
            </a:r>
            <a:r>
              <a:rPr lang="en-IE" dirty="0" err="1"/>
              <a:t>dès</a:t>
            </a:r>
            <a:r>
              <a:rPr lang="en-IE" dirty="0"/>
              <a:t> le début sur </a:t>
            </a:r>
            <a:r>
              <a:rPr lang="en-IE" dirty="0" err="1"/>
              <a:t>Github</a:t>
            </a:r>
            <a:r>
              <a:rPr lang="en-IE" dirty="0"/>
              <a:t> </a:t>
            </a:r>
            <a:r>
              <a:rPr lang="en-IE" dirty="0" err="1"/>
              <a:t>puis</a:t>
            </a:r>
            <a:r>
              <a:rPr lang="en-IE" dirty="0"/>
              <a:t> </a:t>
            </a:r>
            <a:r>
              <a:rPr lang="en-IE" dirty="0" err="1"/>
              <a:t>j’ai</a:t>
            </a:r>
            <a:r>
              <a:rPr lang="en-IE" dirty="0"/>
              <a:t> </a:t>
            </a:r>
            <a:r>
              <a:rPr lang="en-IE" dirty="0" err="1"/>
              <a:t>pu</a:t>
            </a:r>
            <a:r>
              <a:rPr lang="en-IE" dirty="0"/>
              <a:t> </a:t>
            </a:r>
            <a:r>
              <a:rPr lang="en-IE" dirty="0" err="1"/>
              <a:t>travailler</a:t>
            </a:r>
            <a:r>
              <a:rPr lang="en-IE" dirty="0"/>
              <a:t> sur ma machine de bureau, </a:t>
            </a:r>
            <a:r>
              <a:rPr lang="en-IE" dirty="0" err="1"/>
              <a:t>mon</a:t>
            </a:r>
            <a:r>
              <a:rPr lang="en-IE" dirty="0"/>
              <a:t> laptop, et </a:t>
            </a:r>
            <a:r>
              <a:rPr lang="en-IE" dirty="0" err="1"/>
              <a:t>même</a:t>
            </a:r>
            <a:r>
              <a:rPr lang="en-IE" dirty="0"/>
              <a:t> </a:t>
            </a:r>
            <a:r>
              <a:rPr lang="en-IE" dirty="0" err="1"/>
              <a:t>télécharger</a:t>
            </a:r>
            <a:r>
              <a:rPr lang="en-IE" dirty="0"/>
              <a:t> ma presentation sur </a:t>
            </a:r>
            <a:r>
              <a:rPr lang="en-IE" dirty="0" err="1"/>
              <a:t>mon</a:t>
            </a:r>
            <a:r>
              <a:rPr lang="en-IE" dirty="0"/>
              <a:t> </a:t>
            </a:r>
            <a:r>
              <a:rPr lang="en-IE" dirty="0" err="1"/>
              <a:t>téléphone</a:t>
            </a:r>
            <a:r>
              <a:rPr lang="en-IE" dirty="0"/>
              <a:t> ! Toute la </a:t>
            </a:r>
            <a:r>
              <a:rPr lang="en-IE" dirty="0" err="1"/>
              <a:t>difficulté</a:t>
            </a:r>
            <a:r>
              <a:rPr lang="en-IE" dirty="0"/>
              <a:t> </a:t>
            </a:r>
            <a:r>
              <a:rPr lang="en-IE" dirty="0" err="1"/>
              <a:t>c’est</a:t>
            </a:r>
            <a:r>
              <a:rPr lang="en-IE" dirty="0"/>
              <a:t> de bien tout synchroniser.</a:t>
            </a:r>
          </a:p>
          <a:p>
            <a:endParaRPr lang="en-IE" dirty="0"/>
          </a:p>
          <a:p>
            <a:r>
              <a:rPr lang="en-IE" dirty="0"/>
              <a:t>On </a:t>
            </a:r>
            <a:r>
              <a:rPr lang="en-IE" dirty="0" err="1"/>
              <a:t>peut</a:t>
            </a:r>
            <a:r>
              <a:rPr lang="en-IE" dirty="0"/>
              <a:t> </a:t>
            </a:r>
            <a:r>
              <a:rPr lang="en-IE" dirty="0" err="1"/>
              <a:t>littéralement</a:t>
            </a:r>
            <a:r>
              <a:rPr lang="en-IE" dirty="0"/>
              <a:t> cloner un </a:t>
            </a:r>
            <a:r>
              <a:rPr lang="en-IE" dirty="0" err="1"/>
              <a:t>répertoire</a:t>
            </a:r>
            <a:r>
              <a:rPr lang="en-IE" dirty="0"/>
              <a:t> git et faire des push et pull entre deux </a:t>
            </a:r>
            <a:r>
              <a:rPr lang="en-IE" dirty="0" err="1"/>
              <a:t>répertoires</a:t>
            </a:r>
            <a:r>
              <a:rPr lang="en-IE" dirty="0"/>
              <a:t>.</a:t>
            </a:r>
          </a:p>
          <a:p>
            <a:r>
              <a:rPr lang="en-IE" dirty="0" err="1"/>
              <a:t>C’est</a:t>
            </a:r>
            <a:r>
              <a:rPr lang="en-IE" dirty="0"/>
              <a:t> un peu idiot </a:t>
            </a:r>
            <a:r>
              <a:rPr lang="en-IE" dirty="0" err="1"/>
              <a:t>mais</a:t>
            </a:r>
            <a:r>
              <a:rPr lang="en-IE" dirty="0"/>
              <a:t> </a:t>
            </a:r>
            <a:r>
              <a:rPr lang="en-IE" dirty="0" err="1"/>
              <a:t>ça</a:t>
            </a:r>
            <a:r>
              <a:rPr lang="en-IE" dirty="0"/>
              <a:t> </a:t>
            </a:r>
            <a:r>
              <a:rPr lang="en-IE" dirty="0" err="1"/>
              <a:t>prouve</a:t>
            </a:r>
            <a:r>
              <a:rPr lang="en-IE" dirty="0"/>
              <a:t> la </a:t>
            </a:r>
            <a:r>
              <a:rPr lang="en-IE" dirty="0" err="1"/>
              <a:t>simplicité</a:t>
            </a:r>
            <a:r>
              <a:rPr lang="en-IE" dirty="0"/>
              <a:t> du </a:t>
            </a:r>
            <a:r>
              <a:rPr lang="en-IE" dirty="0" err="1"/>
              <a:t>système</a:t>
            </a:r>
            <a:r>
              <a:rPr lang="en-IE" dirty="0"/>
              <a:t>. On </a:t>
            </a:r>
            <a:r>
              <a:rPr lang="en-IE" dirty="0" err="1"/>
              <a:t>peut</a:t>
            </a:r>
            <a:r>
              <a:rPr lang="en-IE" dirty="0"/>
              <a:t> imaginer faire la </a:t>
            </a:r>
            <a:r>
              <a:rPr lang="en-IE" dirty="0" err="1"/>
              <a:t>même</a:t>
            </a:r>
            <a:r>
              <a:rPr lang="en-IE" dirty="0"/>
              <a:t> chose sur un réseau local ! </a:t>
            </a:r>
            <a:r>
              <a:rPr lang="en-IE" dirty="0" err="1"/>
              <a:t>Avoir</a:t>
            </a:r>
            <a:r>
              <a:rPr lang="en-IE" dirty="0"/>
              <a:t> un </a:t>
            </a:r>
            <a:r>
              <a:rPr lang="en-IE" dirty="0" err="1"/>
              <a:t>serveur</a:t>
            </a:r>
            <a:r>
              <a:rPr lang="en-IE" dirty="0"/>
              <a:t> local </a:t>
            </a:r>
            <a:r>
              <a:rPr lang="en-IE" dirty="0" err="1"/>
              <a:t>dédié</a:t>
            </a:r>
            <a:r>
              <a:rPr lang="en-IE" dirty="0"/>
              <a:t> et </a:t>
            </a:r>
            <a:r>
              <a:rPr lang="en-IE" dirty="0" err="1"/>
              <a:t>chaque</a:t>
            </a:r>
            <a:r>
              <a:rPr lang="en-IE" dirty="0"/>
              <a:t> </a:t>
            </a:r>
            <a:r>
              <a:rPr lang="en-IE" dirty="0" err="1"/>
              <a:t>collaborateur</a:t>
            </a:r>
            <a:r>
              <a:rPr lang="en-IE" dirty="0"/>
              <a:t> clone le </a:t>
            </a:r>
            <a:r>
              <a:rPr lang="en-IE" dirty="0" err="1"/>
              <a:t>dépôt</a:t>
            </a:r>
            <a:r>
              <a:rPr lang="en-IE" dirty="0"/>
              <a:t> sur </a:t>
            </a:r>
            <a:r>
              <a:rPr lang="en-IE" dirty="0" err="1"/>
              <a:t>sa</a:t>
            </a:r>
            <a:r>
              <a:rPr lang="en-IE" dirty="0"/>
              <a:t> machine.</a:t>
            </a:r>
          </a:p>
          <a:p>
            <a:r>
              <a:rPr lang="en-IE" dirty="0"/>
              <a:t>Quand on fait un clone </a:t>
            </a:r>
            <a:r>
              <a:rPr lang="en-IE" dirty="0" err="1"/>
              <a:t>depuis</a:t>
            </a:r>
            <a:r>
              <a:rPr lang="en-IE" dirty="0"/>
              <a:t> </a:t>
            </a:r>
            <a:r>
              <a:rPr lang="en-IE" dirty="0" err="1"/>
              <a:t>github</a:t>
            </a:r>
            <a:r>
              <a:rPr lang="en-IE" dirty="0"/>
              <a:t>, on ne fait </a:t>
            </a:r>
            <a:r>
              <a:rPr lang="en-IE" dirty="0" err="1"/>
              <a:t>que</a:t>
            </a:r>
            <a:r>
              <a:rPr lang="en-IE" dirty="0"/>
              <a:t> copier un repertoire .git et son </a:t>
            </a:r>
            <a:r>
              <a:rPr lang="en-IE" dirty="0" err="1"/>
              <a:t>contenu</a:t>
            </a:r>
            <a:r>
              <a:rPr lang="en-IE" dirty="0"/>
              <a:t>, pas plus ! </a:t>
            </a:r>
          </a:p>
          <a:p>
            <a:endParaRPr lang="en-IE" dirty="0"/>
          </a:p>
          <a:p>
            <a:r>
              <a:rPr lang="en-IE" dirty="0"/>
              <a:t>Mais </a:t>
            </a:r>
            <a:r>
              <a:rPr lang="en-IE" dirty="0" err="1"/>
              <a:t>Github</a:t>
            </a:r>
            <a:r>
              <a:rPr lang="en-IE" dirty="0"/>
              <a:t> et les </a:t>
            </a:r>
            <a:r>
              <a:rPr lang="en-IE" dirty="0" err="1"/>
              <a:t>autres</a:t>
            </a:r>
            <a:r>
              <a:rPr lang="en-IE" dirty="0"/>
              <a:t> </a:t>
            </a:r>
            <a:r>
              <a:rPr lang="en-IE" dirty="0" err="1"/>
              <a:t>apportent</a:t>
            </a:r>
            <a:r>
              <a:rPr lang="en-IE" dirty="0"/>
              <a:t> bien plus </a:t>
            </a:r>
            <a:r>
              <a:rPr lang="en-IE" dirty="0" err="1"/>
              <a:t>que</a:t>
            </a:r>
            <a:r>
              <a:rPr lang="en-IE" dirty="0"/>
              <a:t> </a:t>
            </a:r>
            <a:r>
              <a:rPr lang="en-IE" dirty="0" err="1"/>
              <a:t>juste</a:t>
            </a:r>
            <a:r>
              <a:rPr lang="en-IE" dirty="0"/>
              <a:t> </a:t>
            </a:r>
            <a:r>
              <a:rPr lang="en-IE" dirty="0" err="1"/>
              <a:t>une</a:t>
            </a:r>
            <a:r>
              <a:rPr lang="en-IE" dirty="0"/>
              <a:t> </a:t>
            </a:r>
            <a:r>
              <a:rPr lang="en-IE" dirty="0" err="1"/>
              <a:t>copie</a:t>
            </a:r>
            <a:r>
              <a:rPr lang="en-IE" dirty="0"/>
              <a:t> de </a:t>
            </a:r>
            <a:r>
              <a:rPr lang="en-IE" dirty="0" err="1"/>
              <a:t>votre</a:t>
            </a:r>
            <a:r>
              <a:rPr lang="en-IE" dirty="0"/>
              <a:t> </a:t>
            </a:r>
            <a:r>
              <a:rPr lang="en-IE" dirty="0" err="1"/>
              <a:t>dépôt</a:t>
            </a:r>
            <a:r>
              <a:rPr lang="en-IE" dirty="0"/>
              <a:t> local. </a:t>
            </a:r>
            <a:r>
              <a:rPr lang="en-IE" dirty="0" err="1"/>
              <a:t>Ces</a:t>
            </a:r>
            <a:r>
              <a:rPr lang="en-IE" dirty="0"/>
              <a:t> options </a:t>
            </a:r>
            <a:r>
              <a:rPr lang="en-IE" dirty="0" err="1"/>
              <a:t>dépassent</a:t>
            </a:r>
            <a:r>
              <a:rPr lang="en-IE" dirty="0"/>
              <a:t> le cadre de </a:t>
            </a:r>
            <a:r>
              <a:rPr lang="en-IE" dirty="0" err="1"/>
              <a:t>ce</a:t>
            </a:r>
            <a:r>
              <a:rPr lang="en-IE" dirty="0"/>
              <a:t> </a:t>
            </a:r>
            <a:r>
              <a:rPr lang="en-IE" dirty="0" err="1"/>
              <a:t>cours</a:t>
            </a:r>
            <a:r>
              <a:rPr lang="en-IE" dirty="0"/>
              <a:t>, </a:t>
            </a:r>
            <a:r>
              <a:rPr lang="en-IE" dirty="0" err="1"/>
              <a:t>mais</a:t>
            </a:r>
            <a:r>
              <a:rPr lang="en-IE" dirty="0"/>
              <a:t> </a:t>
            </a:r>
            <a:r>
              <a:rPr lang="en-IE" dirty="0" err="1"/>
              <a:t>quand</a:t>
            </a:r>
            <a:r>
              <a:rPr lang="en-IE" dirty="0"/>
              <a:t> on a </a:t>
            </a:r>
            <a:r>
              <a:rPr lang="en-IE" dirty="0" err="1"/>
              <a:t>travailé</a:t>
            </a:r>
            <a:r>
              <a:rPr lang="en-IE" dirty="0"/>
              <a:t> sans </a:t>
            </a:r>
            <a:r>
              <a:rPr lang="en-IE" dirty="0" err="1"/>
              <a:t>elles</a:t>
            </a:r>
            <a:r>
              <a:rPr lang="en-IE" dirty="0"/>
              <a:t>, on les </a:t>
            </a:r>
            <a:r>
              <a:rPr lang="en-IE" dirty="0" err="1"/>
              <a:t>apprécie</a:t>
            </a:r>
            <a:r>
              <a:rPr lang="en-IE" dirty="0"/>
              <a:t> à </a:t>
            </a:r>
            <a:r>
              <a:rPr lang="en-IE" dirty="0" err="1"/>
              <a:t>leur</a:t>
            </a:r>
            <a:r>
              <a:rPr lang="en-IE" dirty="0"/>
              <a:t> </a:t>
            </a:r>
            <a:r>
              <a:rPr lang="en-IE" dirty="0" err="1"/>
              <a:t>juste</a:t>
            </a:r>
            <a:r>
              <a:rPr lang="en-IE" dirty="0"/>
              <a:t> </a:t>
            </a:r>
            <a:r>
              <a:rPr lang="en-IE" dirty="0" err="1"/>
              <a:t>valeur</a:t>
            </a:r>
            <a:r>
              <a:rPr lang="en-IE" dirty="0"/>
              <a:t>.</a:t>
            </a:r>
          </a:p>
          <a:p>
            <a:endParaRPr lang="en-IE" dirty="0"/>
          </a:p>
          <a:p>
            <a:r>
              <a:rPr lang="en-IE" dirty="0"/>
              <a:t>Par </a:t>
            </a:r>
            <a:r>
              <a:rPr lang="en-IE" dirty="0" err="1"/>
              <a:t>exemple</a:t>
            </a:r>
            <a:r>
              <a:rPr lang="en-IE" dirty="0"/>
              <a:t> il </a:t>
            </a:r>
            <a:r>
              <a:rPr lang="en-IE" dirty="0" err="1"/>
              <a:t>sert</a:t>
            </a:r>
            <a:r>
              <a:rPr lang="en-IE" dirty="0"/>
              <a:t> à </a:t>
            </a:r>
            <a:r>
              <a:rPr lang="en-IE" dirty="0" err="1"/>
              <a:t>mettre</a:t>
            </a:r>
            <a:r>
              <a:rPr lang="en-IE" dirty="0"/>
              <a:t> </a:t>
            </a:r>
            <a:r>
              <a:rPr lang="en-IE" dirty="0" err="1"/>
              <a:t>en</a:t>
            </a:r>
            <a:r>
              <a:rPr lang="en-IE" dirty="0"/>
              <a:t> oeuvre </a:t>
            </a:r>
            <a:r>
              <a:rPr lang="en-IE" dirty="0" err="1"/>
              <a:t>votre</a:t>
            </a:r>
            <a:r>
              <a:rPr lang="en-IE" dirty="0"/>
              <a:t> politique </a:t>
            </a:r>
            <a:r>
              <a:rPr lang="en-IE" dirty="0" err="1"/>
              <a:t>d’équipe</a:t>
            </a:r>
            <a:r>
              <a:rPr lang="en-IE" dirty="0"/>
              <a:t>. </a:t>
            </a:r>
            <a:r>
              <a:rPr lang="en-IE" dirty="0" err="1"/>
              <a:t>Ici</a:t>
            </a:r>
            <a:r>
              <a:rPr lang="en-IE" dirty="0"/>
              <a:t> on </a:t>
            </a:r>
            <a:r>
              <a:rPr lang="en-IE" dirty="0" err="1"/>
              <a:t>voit</a:t>
            </a:r>
            <a:r>
              <a:rPr lang="en-IE" dirty="0"/>
              <a:t> un message </a:t>
            </a:r>
            <a:r>
              <a:rPr lang="en-IE" dirty="0" err="1"/>
              <a:t>d’erreur</a:t>
            </a:r>
            <a:r>
              <a:rPr lang="en-IE" dirty="0"/>
              <a:t> qui </a:t>
            </a:r>
            <a:r>
              <a:rPr lang="en-IE" dirty="0" err="1"/>
              <a:t>m’interdit</a:t>
            </a:r>
            <a:r>
              <a:rPr lang="en-IE" dirty="0"/>
              <a:t> de </a:t>
            </a:r>
            <a:r>
              <a:rPr lang="en-IE" dirty="0" err="1"/>
              <a:t>pousser</a:t>
            </a:r>
            <a:r>
              <a:rPr lang="en-IE" dirty="0"/>
              <a:t> ma modification sur </a:t>
            </a:r>
            <a:r>
              <a:rPr lang="en-IE" dirty="0" err="1"/>
              <a:t>une</a:t>
            </a:r>
            <a:r>
              <a:rPr lang="en-IE" dirty="0"/>
              <a:t> </a:t>
            </a:r>
            <a:r>
              <a:rPr lang="en-IE" dirty="0" err="1"/>
              <a:t>branche</a:t>
            </a:r>
            <a:r>
              <a:rPr lang="en-IE" dirty="0"/>
              <a:t> tant </a:t>
            </a:r>
            <a:r>
              <a:rPr lang="en-IE" dirty="0" err="1"/>
              <a:t>que</a:t>
            </a:r>
            <a:r>
              <a:rPr lang="en-IE" dirty="0"/>
              <a:t> je </a:t>
            </a:r>
            <a:r>
              <a:rPr lang="en-IE" dirty="0" err="1"/>
              <a:t>n’ai</a:t>
            </a:r>
            <a:r>
              <a:rPr lang="en-IE" dirty="0"/>
              <a:t> pas fait un rebase. Et on </a:t>
            </a:r>
            <a:r>
              <a:rPr lang="en-IE" dirty="0" err="1"/>
              <a:t>voit</a:t>
            </a:r>
            <a:r>
              <a:rPr lang="en-IE" dirty="0"/>
              <a:t> des options </a:t>
            </a:r>
            <a:r>
              <a:rPr lang="en-IE" dirty="0" err="1"/>
              <a:t>permettant</a:t>
            </a:r>
            <a:r>
              <a:rPr lang="en-IE" dirty="0"/>
              <a:t> ensuite de faire un squash de </a:t>
            </a:r>
            <a:r>
              <a:rPr lang="en-IE" dirty="0" err="1"/>
              <a:t>tous</a:t>
            </a:r>
            <a:r>
              <a:rPr lang="en-IE" dirty="0"/>
              <a:t> </a:t>
            </a:r>
            <a:r>
              <a:rPr lang="en-IE" dirty="0" err="1"/>
              <a:t>mes</a:t>
            </a:r>
            <a:r>
              <a:rPr lang="en-IE" dirty="0"/>
              <a:t> commits au moment de la fusion, et </a:t>
            </a:r>
            <a:r>
              <a:rPr lang="en-IE" dirty="0" err="1"/>
              <a:t>une</a:t>
            </a:r>
            <a:r>
              <a:rPr lang="en-IE" dirty="0"/>
              <a:t> suppression </a:t>
            </a:r>
            <a:r>
              <a:rPr lang="en-IE" dirty="0" err="1"/>
              <a:t>automatique</a:t>
            </a:r>
            <a:r>
              <a:rPr lang="en-IE" dirty="0"/>
              <a:t> de ma </a:t>
            </a:r>
            <a:r>
              <a:rPr lang="en-IE" dirty="0" err="1"/>
              <a:t>branche</a:t>
            </a:r>
            <a:r>
              <a:rPr lang="en-IE" dirty="0"/>
              <a:t> de </a:t>
            </a:r>
            <a:r>
              <a:rPr lang="en-IE" dirty="0" err="1"/>
              <a:t>développement</a:t>
            </a:r>
            <a:r>
              <a:rPr lang="en-IE" dirty="0"/>
              <a:t>, </a:t>
            </a:r>
            <a:r>
              <a:rPr lang="en-IE" dirty="0" err="1"/>
              <a:t>devenue</a:t>
            </a:r>
            <a:r>
              <a:rPr lang="en-IE" dirty="0"/>
              <a:t> inutile !</a:t>
            </a:r>
          </a:p>
        </p:txBody>
      </p:sp>
      <p:sp>
        <p:nvSpPr>
          <p:cNvPr id="4" name="Slide Number Placeholder 3"/>
          <p:cNvSpPr>
            <a:spLocks noGrp="1"/>
          </p:cNvSpPr>
          <p:nvPr>
            <p:ph type="sldNum" sz="quarter" idx="5"/>
          </p:nvPr>
        </p:nvSpPr>
        <p:spPr/>
        <p:txBody>
          <a:bodyPr/>
          <a:lstStyle/>
          <a:p>
            <a:fld id="{E5771A9F-1700-46FF-B6E9-7591AA9C8781}" type="slidenum">
              <a:rPr lang="fr-FR" smtClean="0"/>
              <a:t>12</a:t>
            </a:fld>
            <a:endParaRPr lang="fr-FR"/>
          </a:p>
        </p:txBody>
      </p:sp>
    </p:spTree>
    <p:extLst>
      <p:ext uri="{BB962C8B-B14F-4D97-AF65-F5344CB8AC3E}">
        <p14:creationId xmlns:p14="http://schemas.microsoft.com/office/powerpoint/2010/main" val="3082332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7940BF-3C30-4CEA-BCF2-3BC84BAE77AC}"/>
              </a:ext>
            </a:extLst>
          </p:cNvPr>
          <p:cNvSpPr>
            <a:spLocks noGrp="1"/>
          </p:cNvSpPr>
          <p:nvPr>
            <p:ph type="ctrTitle"/>
          </p:nvPr>
        </p:nvSpPr>
        <p:spPr>
          <a:xfrm>
            <a:off x="1524000" y="1122363"/>
            <a:ext cx="9144000" cy="2387600"/>
          </a:xfrm>
        </p:spPr>
        <p:txBody>
          <a:bodyPr anchor="b">
            <a:normAutofit/>
          </a:bodyPr>
          <a:lstStyle>
            <a:lvl1pPr algn="ctr">
              <a:defRPr sz="6000">
                <a:latin typeface="Cascadia Code SemiBold" panose="020B0609020000020004" pitchFamily="49" charset="0"/>
                <a:ea typeface="DejaVu Sans Mono" panose="020B0609030804020204" pitchFamily="49" charset="0"/>
                <a:cs typeface="Cascadia Code SemiBold" panose="020B0609020000020004" pitchFamily="49" charset="0"/>
              </a:defRPr>
            </a:lvl1pPr>
          </a:lstStyle>
          <a:p>
            <a:r>
              <a:rPr lang="fr-FR"/>
              <a:t>Modifiez le style du titre</a:t>
            </a:r>
          </a:p>
        </p:txBody>
      </p:sp>
      <p:sp>
        <p:nvSpPr>
          <p:cNvPr id="3" name="Sous-titre 2">
            <a:extLst>
              <a:ext uri="{FF2B5EF4-FFF2-40B4-BE49-F238E27FC236}">
                <a16:creationId xmlns:a16="http://schemas.microsoft.com/office/drawing/2014/main" id="{26A29970-2CD1-4358-9A21-117F4F1EAA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C24B1C7-0016-4A93-8C5D-C13C9CAEAB30}"/>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AE767E80-C297-4FC7-9C5A-10E848A80BB4}"/>
              </a:ext>
            </a:extLst>
          </p:cNvPr>
          <p:cNvSpPr>
            <a:spLocks noGrp="1"/>
          </p:cNvSpPr>
          <p:nvPr>
            <p:ph type="ftr" sz="quarter" idx="11"/>
          </p:nvPr>
        </p:nvSpPr>
        <p:spPr/>
        <p:txBody>
          <a:bodyPr/>
          <a:lstStyle/>
          <a:p>
            <a:r>
              <a:rPr lang="fr-FR" dirty="0"/>
              <a:t>Gestion Avancée des Versions</a:t>
            </a:r>
          </a:p>
        </p:txBody>
      </p:sp>
      <p:sp>
        <p:nvSpPr>
          <p:cNvPr id="6" name="Espace réservé du numéro de diapositive 5">
            <a:extLst>
              <a:ext uri="{FF2B5EF4-FFF2-40B4-BE49-F238E27FC236}">
                <a16:creationId xmlns:a16="http://schemas.microsoft.com/office/drawing/2014/main" id="{79B5E4DE-DCBB-49FD-9523-425A6CEA9D0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778365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229E70-C069-4CCB-BDF6-D39E1B019BA9}"/>
              </a:ext>
            </a:extLst>
          </p:cNvPr>
          <p:cNvSpPr>
            <a:spLocks noGrp="1"/>
          </p:cNvSpPr>
          <p:nvPr>
            <p:ph type="title"/>
          </p:nvPr>
        </p:nvSpPr>
        <p:spPr/>
        <p:txBody>
          <a:bodyPr>
            <a:normAutofit/>
          </a:bodyPr>
          <a:lstStyle>
            <a:lvl1pPr>
              <a:defRPr sz="4000">
                <a:latin typeface="Cascadia Code SemiBold" panose="020B0609020000020004" pitchFamily="49" charset="0"/>
                <a:cs typeface="Cascadia Code SemiBold" panose="020B0609020000020004" pitchFamily="49" charset="0"/>
              </a:defRPr>
            </a:lvl1pPr>
          </a:lstStyle>
          <a:p>
            <a:r>
              <a:rPr lang="fr-FR"/>
              <a:t>Modifiez le style du titre</a:t>
            </a:r>
          </a:p>
        </p:txBody>
      </p:sp>
      <p:sp>
        <p:nvSpPr>
          <p:cNvPr id="3" name="Espace réservé du contenu 2">
            <a:extLst>
              <a:ext uri="{FF2B5EF4-FFF2-40B4-BE49-F238E27FC236}">
                <a16:creationId xmlns:a16="http://schemas.microsoft.com/office/drawing/2014/main" id="{928D4395-53B0-43BE-832D-CFCBB175867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6A06E1-8787-4F72-9372-ED5035882BA5}"/>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18C644C1-79D5-440E-A642-768552CBDD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7CE0AD-C58F-45E7-9BF6-02C0A4793EB0}"/>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271067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343ACE-92D1-401C-8217-0D6632C78457}"/>
              </a:ext>
            </a:extLst>
          </p:cNvPr>
          <p:cNvSpPr>
            <a:spLocks noGrp="1"/>
          </p:cNvSpPr>
          <p:nvPr>
            <p:ph type="title"/>
          </p:nvPr>
        </p:nvSpPr>
        <p:spPr>
          <a:xfrm>
            <a:off x="1174376" y="1709738"/>
            <a:ext cx="9843247"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6CCE02F-E8FD-4B42-B463-82AE116E4309}"/>
              </a:ext>
            </a:extLst>
          </p:cNvPr>
          <p:cNvSpPr>
            <a:spLocks noGrp="1"/>
          </p:cNvSpPr>
          <p:nvPr>
            <p:ph type="body" idx="1"/>
          </p:nvPr>
        </p:nvSpPr>
        <p:spPr>
          <a:xfrm>
            <a:off x="1174374" y="4589463"/>
            <a:ext cx="9843249"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4B9E34E-B0DD-4E31-8F19-4298EFB7BEFA}"/>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F336F1B8-2850-4F55-94D8-27F9A58D4FF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E2F82D0-7465-490D-BD23-BF258ADC21AE}"/>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09060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7BB54-74A3-4D52-9838-135D8D618B2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98A6019-79D2-48A3-B4D3-487206A9775F}"/>
              </a:ext>
            </a:extLst>
          </p:cNvPr>
          <p:cNvSpPr>
            <a:spLocks noGrp="1"/>
          </p:cNvSpPr>
          <p:nvPr>
            <p:ph sz="half" idx="1"/>
          </p:nvPr>
        </p:nvSpPr>
        <p:spPr>
          <a:xfrm>
            <a:off x="1174376" y="1825625"/>
            <a:ext cx="4845424"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B8BB14B-1DFA-4F86-BB07-4D8E8082178F}"/>
              </a:ext>
            </a:extLst>
          </p:cNvPr>
          <p:cNvSpPr>
            <a:spLocks noGrp="1"/>
          </p:cNvSpPr>
          <p:nvPr>
            <p:ph sz="half" idx="2"/>
          </p:nvPr>
        </p:nvSpPr>
        <p:spPr>
          <a:xfrm>
            <a:off x="6172200" y="1825625"/>
            <a:ext cx="4845423"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F6DDF4C-B7B6-4ECB-BAB5-DE240C7F15A1}"/>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6" name="Espace réservé du pied de page 5">
            <a:extLst>
              <a:ext uri="{FF2B5EF4-FFF2-40B4-BE49-F238E27FC236}">
                <a16:creationId xmlns:a16="http://schemas.microsoft.com/office/drawing/2014/main" id="{BA03BDE0-2F2C-42D0-8D7F-5F2C4EAF53D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0CF0280-A762-4359-82C0-23B2C82205A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2968365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FE919E-28EB-4E55-9D3D-21E247795DE0}"/>
              </a:ext>
            </a:extLst>
          </p:cNvPr>
          <p:cNvSpPr>
            <a:spLocks noGrp="1"/>
          </p:cNvSpPr>
          <p:nvPr>
            <p:ph type="title"/>
          </p:nvPr>
        </p:nvSpPr>
        <p:spPr>
          <a:xfrm>
            <a:off x="1174376" y="365125"/>
            <a:ext cx="9843247"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E3286F-BB4F-44B9-AD21-E88F3050F959}"/>
              </a:ext>
            </a:extLst>
          </p:cNvPr>
          <p:cNvSpPr>
            <a:spLocks noGrp="1"/>
          </p:cNvSpPr>
          <p:nvPr>
            <p:ph type="body" idx="1"/>
          </p:nvPr>
        </p:nvSpPr>
        <p:spPr>
          <a:xfrm>
            <a:off x="1174375" y="1681163"/>
            <a:ext cx="492162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9896D98C-1EF9-4A16-B1E7-50AA921A1607}"/>
              </a:ext>
            </a:extLst>
          </p:cNvPr>
          <p:cNvSpPr>
            <a:spLocks noGrp="1"/>
          </p:cNvSpPr>
          <p:nvPr>
            <p:ph sz="half" idx="2"/>
          </p:nvPr>
        </p:nvSpPr>
        <p:spPr>
          <a:xfrm>
            <a:off x="1174376" y="2505075"/>
            <a:ext cx="492162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5DC8C29-9C6B-44FE-8ACC-9260A0C33836}"/>
              </a:ext>
            </a:extLst>
          </p:cNvPr>
          <p:cNvSpPr>
            <a:spLocks noGrp="1"/>
          </p:cNvSpPr>
          <p:nvPr>
            <p:ph type="body" sz="quarter" idx="3"/>
          </p:nvPr>
        </p:nvSpPr>
        <p:spPr>
          <a:xfrm>
            <a:off x="6096000" y="1681163"/>
            <a:ext cx="492162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79B3EA2-76F7-4872-837A-8896858F278B}"/>
              </a:ext>
            </a:extLst>
          </p:cNvPr>
          <p:cNvSpPr>
            <a:spLocks noGrp="1"/>
          </p:cNvSpPr>
          <p:nvPr>
            <p:ph sz="quarter" idx="4"/>
          </p:nvPr>
        </p:nvSpPr>
        <p:spPr>
          <a:xfrm>
            <a:off x="6095998" y="2505075"/>
            <a:ext cx="4921625" cy="368458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e la date 6">
            <a:extLst>
              <a:ext uri="{FF2B5EF4-FFF2-40B4-BE49-F238E27FC236}">
                <a16:creationId xmlns:a16="http://schemas.microsoft.com/office/drawing/2014/main" id="{FFBEF25A-C734-464E-A222-5FA5DD7E8A13}"/>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8" name="Espace réservé du pied de page 7">
            <a:extLst>
              <a:ext uri="{FF2B5EF4-FFF2-40B4-BE49-F238E27FC236}">
                <a16:creationId xmlns:a16="http://schemas.microsoft.com/office/drawing/2014/main" id="{04809B12-0F3E-4147-ADC8-D1FCCE7E720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369387E-D9A7-4DC2-BBCC-1FBF894677E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009055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D3F8CE-315A-4523-8FDF-486D49020C8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1AAA36C-1AD9-47C0-8CEB-DBE9768CC762}"/>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4" name="Espace réservé du pied de page 3">
            <a:extLst>
              <a:ext uri="{FF2B5EF4-FFF2-40B4-BE49-F238E27FC236}">
                <a16:creationId xmlns:a16="http://schemas.microsoft.com/office/drawing/2014/main" id="{83BD1FBB-A7F9-41F1-8757-1E209553E5C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D27496C-4711-44D6-AC12-F11B04C6D9EC}"/>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171594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919EB38-630F-459F-B68D-38C7CF74C0EE}"/>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3" name="Espace réservé du pied de page 2">
            <a:extLst>
              <a:ext uri="{FF2B5EF4-FFF2-40B4-BE49-F238E27FC236}">
                <a16:creationId xmlns:a16="http://schemas.microsoft.com/office/drawing/2014/main" id="{95E3696F-2221-4B5E-86EB-1AD3267CDC6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0F91A2-2E78-4031-986C-91D52B79FA54}"/>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06028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2C3740-84DC-4517-813D-3992A06E0B5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07A1E60-66B0-4128-A7A0-48C5A9DD7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BC3BCB4-F1BB-458D-9CCE-63BCCFB885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8F6E28-3CEA-4B55-BD42-445EE7EDD53E}"/>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6" name="Espace réservé du pied de page 5">
            <a:extLst>
              <a:ext uri="{FF2B5EF4-FFF2-40B4-BE49-F238E27FC236}">
                <a16:creationId xmlns:a16="http://schemas.microsoft.com/office/drawing/2014/main" id="{FCFA584B-DB09-4E14-8569-97941132A53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23D3DB-588F-4A06-B9CE-82A045DD696B}"/>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572230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DA6E4B-A71A-48C5-BC20-0325B569C10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511D24-C6BB-4154-AE0B-ADE9C92CE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297D27E-62D6-4D0C-A344-60864F875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11795F-69D3-4049-A100-C58416F16BD9}"/>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6" name="Espace réservé du pied de page 5">
            <a:extLst>
              <a:ext uri="{FF2B5EF4-FFF2-40B4-BE49-F238E27FC236}">
                <a16:creationId xmlns:a16="http://schemas.microsoft.com/office/drawing/2014/main" id="{8FB778F6-9F4E-490C-A9FA-779D65B2A4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6832E3F-E146-4147-81B7-08DFCAB60296}"/>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1514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421AF0-0540-42C5-8E0A-C43594C821E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36B7C01-F0E7-4594-BB49-49732A548C1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A4E481-3DA5-4F2D-929A-68867CDDB257}"/>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85656DF1-3D33-4DD7-9454-E372CE40C0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EAA4C47-7FFE-48E6-842B-AEFBDF5FFA6E}"/>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5664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915AF5A-4847-4FE3-A19E-01C85A7C47A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994C12B-D043-45BF-A389-10240C3E6F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2E1B3B-FED1-4DB1-9EA9-5D1A2CCC731C}"/>
              </a:ext>
            </a:extLst>
          </p:cNvPr>
          <p:cNvSpPr>
            <a:spLocks noGrp="1"/>
          </p:cNvSpPr>
          <p:nvPr>
            <p:ph type="dt" sz="half" idx="10"/>
          </p:nvPr>
        </p:nvSpPr>
        <p:spPr/>
        <p:txBody>
          <a:body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17D14108-9D84-466B-A1DE-8AEDB1CE7C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C39AB8-5C5B-4119-8431-884577E93E14}"/>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2100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6E3"/>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1D6DF1B-829C-40E1-AD9A-D2484F81083C}"/>
              </a:ext>
            </a:extLst>
          </p:cNvPr>
          <p:cNvPicPr>
            <a:picLocks noChangeAspect="1"/>
          </p:cNvPicPr>
          <p:nvPr userDrawn="1"/>
        </p:nvPicPr>
        <p:blipFill>
          <a:blip r:embed="rId13"/>
          <a:stretch>
            <a:fillRect/>
          </a:stretch>
        </p:blipFill>
        <p:spPr>
          <a:xfrm flipH="1">
            <a:off x="11017623" y="0"/>
            <a:ext cx="1174376" cy="6858000"/>
          </a:xfrm>
          <a:prstGeom prst="rect">
            <a:avLst/>
          </a:prstGeom>
        </p:spPr>
      </p:pic>
      <p:pic>
        <p:nvPicPr>
          <p:cNvPr id="8" name="Image 7">
            <a:extLst>
              <a:ext uri="{FF2B5EF4-FFF2-40B4-BE49-F238E27FC236}">
                <a16:creationId xmlns:a16="http://schemas.microsoft.com/office/drawing/2014/main" id="{C659C29F-BD1F-4CBD-B209-C6E8A8B6CDB9}"/>
              </a:ext>
            </a:extLst>
          </p:cNvPr>
          <p:cNvPicPr>
            <a:picLocks noChangeAspect="1"/>
          </p:cNvPicPr>
          <p:nvPr userDrawn="1"/>
        </p:nvPicPr>
        <p:blipFill>
          <a:blip r:embed="rId14"/>
          <a:stretch>
            <a:fillRect/>
          </a:stretch>
        </p:blipFill>
        <p:spPr>
          <a:xfrm>
            <a:off x="0" y="6537"/>
            <a:ext cx="1174376" cy="6851463"/>
          </a:xfrm>
          <a:prstGeom prst="rect">
            <a:avLst/>
          </a:prstGeom>
        </p:spPr>
      </p:pic>
      <p:sp>
        <p:nvSpPr>
          <p:cNvPr id="2" name="Espace réservé du titre 1">
            <a:extLst>
              <a:ext uri="{FF2B5EF4-FFF2-40B4-BE49-F238E27FC236}">
                <a16:creationId xmlns:a16="http://schemas.microsoft.com/office/drawing/2014/main" id="{C4627AA6-10EE-476A-BB3C-9A51F76305A0}"/>
              </a:ext>
            </a:extLst>
          </p:cNvPr>
          <p:cNvSpPr>
            <a:spLocks noGrp="1"/>
          </p:cNvSpPr>
          <p:nvPr>
            <p:ph type="title"/>
          </p:nvPr>
        </p:nvSpPr>
        <p:spPr>
          <a:xfrm>
            <a:off x="1174376" y="365125"/>
            <a:ext cx="9843247"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5348FEE-B9FD-4570-906E-2561E2ACEC04}"/>
              </a:ext>
            </a:extLst>
          </p:cNvPr>
          <p:cNvSpPr>
            <a:spLocks noGrp="1"/>
          </p:cNvSpPr>
          <p:nvPr>
            <p:ph type="body" idx="1"/>
          </p:nvPr>
        </p:nvSpPr>
        <p:spPr>
          <a:xfrm>
            <a:off x="1174376" y="1825625"/>
            <a:ext cx="9843247"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6F472C1-00D0-4DDA-94DF-BA4E8F5F93EA}"/>
              </a:ext>
            </a:extLst>
          </p:cNvPr>
          <p:cNvSpPr>
            <a:spLocks noGrp="1"/>
          </p:cNvSpPr>
          <p:nvPr>
            <p:ph type="dt" sz="half" idx="2"/>
          </p:nvPr>
        </p:nvSpPr>
        <p:spPr>
          <a:xfrm>
            <a:off x="1174376" y="6356350"/>
            <a:ext cx="240702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1DD7F7-1ABA-4C94-899D-E4FA0F52F914}" type="datetimeFigureOut">
              <a:rPr lang="fr-FR" smtClean="0"/>
              <a:t>09/12/2025</a:t>
            </a:fld>
            <a:endParaRPr lang="fr-FR"/>
          </a:p>
        </p:txBody>
      </p:sp>
      <p:sp>
        <p:nvSpPr>
          <p:cNvPr id="5" name="Espace réservé du pied de page 4">
            <a:extLst>
              <a:ext uri="{FF2B5EF4-FFF2-40B4-BE49-F238E27FC236}">
                <a16:creationId xmlns:a16="http://schemas.microsoft.com/office/drawing/2014/main" id="{5C7A8601-419D-4D8E-AC1C-B26AC9D167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12AAAA7-B2D8-4506-8566-8FCBE405B7BE}"/>
              </a:ext>
            </a:extLst>
          </p:cNvPr>
          <p:cNvSpPr>
            <a:spLocks noGrp="1"/>
          </p:cNvSpPr>
          <p:nvPr>
            <p:ph type="sldNum" sz="quarter" idx="4"/>
          </p:nvPr>
        </p:nvSpPr>
        <p:spPr>
          <a:xfrm>
            <a:off x="8610600" y="6356350"/>
            <a:ext cx="240702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96B781-FF34-4AA8-93DB-70DF7A11777C}" type="slidenum">
              <a:rPr lang="fr-FR" smtClean="0"/>
              <a:t>‹#›</a:t>
            </a:fld>
            <a:endParaRPr lang="fr-FR" dirty="0"/>
          </a:p>
        </p:txBody>
      </p:sp>
    </p:spTree>
    <p:extLst>
      <p:ext uri="{BB962C8B-B14F-4D97-AF65-F5344CB8AC3E}">
        <p14:creationId xmlns:p14="http://schemas.microsoft.com/office/powerpoint/2010/main" val="2699705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98FA16-00F3-49D3-A06A-71228544062E}"/>
              </a:ext>
            </a:extLst>
          </p:cNvPr>
          <p:cNvSpPr>
            <a:spLocks noGrp="1"/>
          </p:cNvSpPr>
          <p:nvPr>
            <p:ph type="ctrTitle"/>
          </p:nvPr>
        </p:nvSpPr>
        <p:spPr/>
        <p:txBody>
          <a:bodyPr>
            <a:normAutofit fontScale="90000"/>
          </a:bodyPr>
          <a:lstStyle/>
          <a:p>
            <a:r>
              <a:rPr lang="fr-FR" noProof="0" dirty="0"/>
              <a:t>Git 201</a:t>
            </a:r>
            <a:br>
              <a:rPr lang="fr-FR" noProof="0" dirty="0"/>
            </a:br>
            <a:r>
              <a:rPr lang="fr-FR" noProof="0" dirty="0"/>
              <a:t>Advanced Source Version Control</a:t>
            </a:r>
          </a:p>
        </p:txBody>
      </p:sp>
      <p:sp>
        <p:nvSpPr>
          <p:cNvPr id="3" name="Sous-titre 2">
            <a:extLst>
              <a:ext uri="{FF2B5EF4-FFF2-40B4-BE49-F238E27FC236}">
                <a16:creationId xmlns:a16="http://schemas.microsoft.com/office/drawing/2014/main" id="{8828877E-FD61-40D1-8769-3C8FF3E7ECA4}"/>
              </a:ext>
            </a:extLst>
          </p:cNvPr>
          <p:cNvSpPr>
            <a:spLocks noGrp="1"/>
          </p:cNvSpPr>
          <p:nvPr>
            <p:ph type="subTitle" idx="1"/>
          </p:nvPr>
        </p:nvSpPr>
        <p:spPr/>
        <p:txBody>
          <a:bodyPr/>
          <a:lstStyle/>
          <a:p>
            <a:r>
              <a:rPr lang="fr-FR" noProof="0" dirty="0" err="1"/>
              <a:t>Solving</a:t>
            </a:r>
            <a:r>
              <a:rPr lang="fr-FR" noProof="0" dirty="0"/>
              <a:t> and </a:t>
            </a:r>
            <a:r>
              <a:rPr lang="fr-FR" noProof="0" dirty="0" err="1"/>
              <a:t>preventing</a:t>
            </a:r>
            <a:r>
              <a:rPr lang="fr-FR" noProof="0" dirty="0"/>
              <a:t> </a:t>
            </a:r>
            <a:r>
              <a:rPr lang="fr-FR" noProof="0" dirty="0" err="1"/>
              <a:t>common</a:t>
            </a:r>
            <a:r>
              <a:rPr lang="fr-FR" noProof="0" dirty="0"/>
              <a:t> </a:t>
            </a:r>
            <a:r>
              <a:rPr lang="fr-FR" noProof="0" dirty="0" err="1"/>
              <a:t>problems</a:t>
            </a:r>
            <a:r>
              <a:rPr lang="fr-FR" noProof="0" dirty="0"/>
              <a:t> </a:t>
            </a:r>
            <a:r>
              <a:rPr lang="fr-FR" noProof="0" dirty="0" err="1"/>
              <a:t>with</a:t>
            </a:r>
            <a:r>
              <a:rPr lang="fr-FR" noProof="0" dirty="0"/>
              <a:t> git </a:t>
            </a:r>
          </a:p>
        </p:txBody>
      </p:sp>
    </p:spTree>
    <p:extLst>
      <p:ext uri="{BB962C8B-B14F-4D97-AF65-F5344CB8AC3E}">
        <p14:creationId xmlns:p14="http://schemas.microsoft.com/office/powerpoint/2010/main" val="3204465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005AAD2-CBDC-45C4-85BF-460F08F0E6C5}"/>
              </a:ext>
            </a:extLst>
          </p:cNvPr>
          <p:cNvSpPr>
            <a:spLocks noGrp="1"/>
          </p:cNvSpPr>
          <p:nvPr>
            <p:ph type="title"/>
          </p:nvPr>
        </p:nvSpPr>
        <p:spPr>
          <a:xfrm>
            <a:off x="1174376" y="365125"/>
            <a:ext cx="9843247" cy="1325563"/>
          </a:xfrm>
        </p:spPr>
        <p:txBody>
          <a:bodyPr anchor="ctr">
            <a:normAutofit/>
          </a:bodyPr>
          <a:lstStyle/>
          <a:p>
            <a:r>
              <a:rPr lang="fr-FR" noProof="0" dirty="0"/>
              <a:t>Branches – </a:t>
            </a:r>
            <a:r>
              <a:rPr lang="fr-FR" i="1" noProof="0" dirty="0" err="1"/>
              <a:t>gitflow</a:t>
            </a:r>
            <a:r>
              <a:rPr lang="fr-FR" noProof="0" dirty="0"/>
              <a:t> </a:t>
            </a:r>
            <a:r>
              <a:rPr lang="fr-FR" noProof="0" dirty="0" err="1"/>
              <a:t>etc</a:t>
            </a:r>
            <a:endParaRPr lang="fr-FR" noProof="0" dirty="0"/>
          </a:p>
        </p:txBody>
      </p:sp>
      <p:pic>
        <p:nvPicPr>
          <p:cNvPr id="2" name="Picture 1">
            <a:extLst>
              <a:ext uri="{FF2B5EF4-FFF2-40B4-BE49-F238E27FC236}">
                <a16:creationId xmlns:a16="http://schemas.microsoft.com/office/drawing/2014/main" id="{898AC506-7550-4A2B-5A3F-54C2B03D9EBD}"/>
              </a:ext>
            </a:extLst>
          </p:cNvPr>
          <p:cNvPicPr>
            <a:picLocks noChangeAspect="1"/>
          </p:cNvPicPr>
          <p:nvPr/>
        </p:nvPicPr>
        <p:blipFill>
          <a:blip r:embed="rId3">
            <a:extLst>
              <a:ext uri="{28A0092B-C50C-407E-A947-70E740481C1C}">
                <a14:useLocalDpi xmlns:a14="http://schemas.microsoft.com/office/drawing/2010/main" val="0"/>
              </a:ext>
            </a:extLst>
          </a:blip>
          <a:srcRect l="59" r="59"/>
          <a:stretch/>
        </p:blipFill>
        <p:spPr>
          <a:xfrm>
            <a:off x="631677" y="1560228"/>
            <a:ext cx="10653357" cy="5197412"/>
          </a:xfrm>
          <a:prstGeom prst="rect">
            <a:avLst/>
          </a:prstGeom>
          <a:noFill/>
        </p:spPr>
      </p:pic>
    </p:spTree>
    <p:extLst>
      <p:ext uri="{BB962C8B-B14F-4D97-AF65-F5344CB8AC3E}">
        <p14:creationId xmlns:p14="http://schemas.microsoft.com/office/powerpoint/2010/main" val="76454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CD2533-B6DA-42DA-BFF9-359EFC65E697}"/>
              </a:ext>
            </a:extLst>
          </p:cNvPr>
          <p:cNvSpPr>
            <a:spLocks noGrp="1"/>
          </p:cNvSpPr>
          <p:nvPr>
            <p:ph type="title"/>
          </p:nvPr>
        </p:nvSpPr>
        <p:spPr/>
        <p:txBody>
          <a:bodyPr/>
          <a:lstStyle/>
          <a:p>
            <a:r>
              <a:rPr lang="fr-FR" noProof="0" dirty="0"/>
              <a:t>Branches – </a:t>
            </a:r>
            <a:r>
              <a:rPr lang="fr-FR" i="1" noProof="0" dirty="0" err="1"/>
              <a:t>trunk-based</a:t>
            </a:r>
            <a:endParaRPr lang="fr-FR" i="1" noProof="0" dirty="0"/>
          </a:p>
        </p:txBody>
      </p:sp>
      <p:pic>
        <p:nvPicPr>
          <p:cNvPr id="4" name="Image 3">
            <a:extLst>
              <a:ext uri="{FF2B5EF4-FFF2-40B4-BE49-F238E27FC236}">
                <a16:creationId xmlns:a16="http://schemas.microsoft.com/office/drawing/2014/main" id="{B2581077-D18A-41C0-AF75-FFA627659DFC}"/>
              </a:ext>
            </a:extLst>
          </p:cNvPr>
          <p:cNvPicPr>
            <a:picLocks noChangeAspect="1"/>
          </p:cNvPicPr>
          <p:nvPr/>
        </p:nvPicPr>
        <p:blipFill>
          <a:blip r:embed="rId3"/>
          <a:stretch>
            <a:fillRect/>
          </a:stretch>
        </p:blipFill>
        <p:spPr>
          <a:xfrm>
            <a:off x="140676" y="1690688"/>
            <a:ext cx="11226019" cy="4612819"/>
          </a:xfrm>
          <a:prstGeom prst="rect">
            <a:avLst/>
          </a:prstGeom>
        </p:spPr>
      </p:pic>
    </p:spTree>
    <p:extLst>
      <p:ext uri="{BB962C8B-B14F-4D97-AF65-F5344CB8AC3E}">
        <p14:creationId xmlns:p14="http://schemas.microsoft.com/office/powerpoint/2010/main" val="3207307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F5CDFD-1A94-4880-AC57-829C64000498}"/>
              </a:ext>
            </a:extLst>
          </p:cNvPr>
          <p:cNvSpPr>
            <a:spLocks noGrp="1"/>
          </p:cNvSpPr>
          <p:nvPr>
            <p:ph type="title"/>
          </p:nvPr>
        </p:nvSpPr>
        <p:spPr/>
        <p:txBody>
          <a:bodyPr/>
          <a:lstStyle/>
          <a:p>
            <a:r>
              <a:rPr lang="fr-FR" noProof="0" dirty="0"/>
              <a:t>Fusion</a:t>
            </a:r>
          </a:p>
        </p:txBody>
      </p:sp>
      <p:pic>
        <p:nvPicPr>
          <p:cNvPr id="4" name="Image 3">
            <a:extLst>
              <a:ext uri="{FF2B5EF4-FFF2-40B4-BE49-F238E27FC236}">
                <a16:creationId xmlns:a16="http://schemas.microsoft.com/office/drawing/2014/main" id="{66C37416-2DC8-49D4-BCB5-2A1F189014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880672"/>
            <a:ext cx="12192000" cy="5096655"/>
          </a:xfrm>
          <a:prstGeom prst="rect">
            <a:avLst/>
          </a:prstGeom>
        </p:spPr>
      </p:pic>
    </p:spTree>
    <p:extLst>
      <p:ext uri="{BB962C8B-B14F-4D97-AF65-F5344CB8AC3E}">
        <p14:creationId xmlns:p14="http://schemas.microsoft.com/office/powerpoint/2010/main" val="18086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156D2B-115D-4F6E-97DE-0E27FEA6932B}"/>
              </a:ext>
            </a:extLst>
          </p:cNvPr>
          <p:cNvSpPr>
            <a:spLocks noGrp="1"/>
          </p:cNvSpPr>
          <p:nvPr>
            <p:ph type="title"/>
          </p:nvPr>
        </p:nvSpPr>
        <p:spPr/>
        <p:txBody>
          <a:bodyPr/>
          <a:lstStyle/>
          <a:p>
            <a:r>
              <a:rPr lang="fr-FR" noProof="0" dirty="0"/>
              <a:t>Conflits</a:t>
            </a:r>
          </a:p>
        </p:txBody>
      </p:sp>
      <p:pic>
        <p:nvPicPr>
          <p:cNvPr id="8" name="Image 7">
            <a:extLst>
              <a:ext uri="{FF2B5EF4-FFF2-40B4-BE49-F238E27FC236}">
                <a16:creationId xmlns:a16="http://schemas.microsoft.com/office/drawing/2014/main" id="{3BBB0D98-BFB8-432A-8394-72340DD8C7C3}"/>
              </a:ext>
            </a:extLst>
          </p:cNvPr>
          <p:cNvPicPr>
            <a:picLocks noChangeAspect="1"/>
          </p:cNvPicPr>
          <p:nvPr/>
        </p:nvPicPr>
        <p:blipFill>
          <a:blip r:embed="rId3"/>
          <a:stretch>
            <a:fillRect/>
          </a:stretch>
        </p:blipFill>
        <p:spPr>
          <a:xfrm>
            <a:off x="0" y="1259237"/>
            <a:ext cx="12192000" cy="4339525"/>
          </a:xfrm>
          <a:prstGeom prst="rect">
            <a:avLst/>
          </a:prstGeom>
        </p:spPr>
      </p:pic>
    </p:spTree>
    <p:extLst>
      <p:ext uri="{BB962C8B-B14F-4D97-AF65-F5344CB8AC3E}">
        <p14:creationId xmlns:p14="http://schemas.microsoft.com/office/powerpoint/2010/main" val="330995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D55281-70E6-4F52-9359-F33E00C8A944}"/>
              </a:ext>
            </a:extLst>
          </p:cNvPr>
          <p:cNvSpPr>
            <a:spLocks noGrp="1"/>
          </p:cNvSpPr>
          <p:nvPr>
            <p:ph type="title"/>
          </p:nvPr>
        </p:nvSpPr>
        <p:spPr/>
        <p:txBody>
          <a:bodyPr/>
          <a:lstStyle/>
          <a:p>
            <a:r>
              <a:rPr lang="fr-FR" noProof="0" dirty="0"/>
              <a:t>Éviter les conflits</a:t>
            </a:r>
          </a:p>
        </p:txBody>
      </p:sp>
      <p:sp>
        <p:nvSpPr>
          <p:cNvPr id="3" name="Espace réservé du contenu 2">
            <a:extLst>
              <a:ext uri="{FF2B5EF4-FFF2-40B4-BE49-F238E27FC236}">
                <a16:creationId xmlns:a16="http://schemas.microsoft.com/office/drawing/2014/main" id="{CA0115AE-5C10-440E-8021-86577BCC9C91}"/>
              </a:ext>
            </a:extLst>
          </p:cNvPr>
          <p:cNvSpPr>
            <a:spLocks noGrp="1"/>
          </p:cNvSpPr>
          <p:nvPr>
            <p:ph idx="1"/>
          </p:nvPr>
        </p:nvSpPr>
        <p:spPr/>
        <p:txBody>
          <a:bodyPr/>
          <a:lstStyle/>
          <a:p>
            <a:r>
              <a:rPr lang="fr-FR" noProof="0" dirty="0"/>
              <a:t>Être sur la même longueur d’onde</a:t>
            </a:r>
          </a:p>
          <a:p>
            <a:pPr lvl="1"/>
            <a:r>
              <a:rPr lang="fr-FR" noProof="0" dirty="0"/>
              <a:t>Discuter des directions à prendre </a:t>
            </a:r>
            <a:r>
              <a:rPr lang="fr-FR" i="1" noProof="0" dirty="0"/>
              <a:t>avant</a:t>
            </a:r>
            <a:r>
              <a:rPr lang="fr-FR" noProof="0" dirty="0"/>
              <a:t> de développer</a:t>
            </a:r>
          </a:p>
          <a:p>
            <a:pPr lvl="1"/>
            <a:r>
              <a:rPr lang="fr-FR" noProof="0" dirty="0"/>
              <a:t>Avoir des références communes</a:t>
            </a:r>
          </a:p>
          <a:p>
            <a:r>
              <a:rPr lang="fr-FR" noProof="0" dirty="0"/>
              <a:t>Communiquer</a:t>
            </a:r>
          </a:p>
          <a:p>
            <a:pPr lvl="1"/>
            <a:r>
              <a:rPr lang="fr-FR" noProof="0" dirty="0"/>
              <a:t>Faire des points pour discuter</a:t>
            </a:r>
          </a:p>
          <a:p>
            <a:pPr lvl="1"/>
            <a:r>
              <a:rPr lang="fr-FR" noProof="0" dirty="0"/>
              <a:t>Avoir des référents pour trancher</a:t>
            </a:r>
          </a:p>
          <a:p>
            <a:pPr lvl="1"/>
            <a:r>
              <a:rPr lang="fr-FR" i="1" noProof="0" dirty="0"/>
              <a:t>Régulièrement</a:t>
            </a:r>
            <a:r>
              <a:rPr lang="fr-FR" noProof="0" dirty="0"/>
              <a:t> informer les autres</a:t>
            </a:r>
          </a:p>
          <a:p>
            <a:pPr lvl="1"/>
            <a:endParaRPr lang="fr-FR" noProof="0" dirty="0"/>
          </a:p>
        </p:txBody>
      </p:sp>
    </p:spTree>
    <p:extLst>
      <p:ext uri="{BB962C8B-B14F-4D97-AF65-F5344CB8AC3E}">
        <p14:creationId xmlns:p14="http://schemas.microsoft.com/office/powerpoint/2010/main" val="240887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83FEFD-C02D-43CC-B22C-610980C7F714}"/>
              </a:ext>
            </a:extLst>
          </p:cNvPr>
          <p:cNvSpPr>
            <a:spLocks noGrp="1"/>
          </p:cNvSpPr>
          <p:nvPr>
            <p:ph type="title"/>
          </p:nvPr>
        </p:nvSpPr>
        <p:spPr/>
        <p:txBody>
          <a:bodyPr/>
          <a:lstStyle/>
          <a:p>
            <a:r>
              <a:rPr lang="fr-FR" noProof="0" dirty="0"/>
              <a:t>Se mettre à jour</a:t>
            </a:r>
          </a:p>
        </p:txBody>
      </p:sp>
      <p:pic>
        <p:nvPicPr>
          <p:cNvPr id="4" name="Image 3">
            <a:extLst>
              <a:ext uri="{FF2B5EF4-FFF2-40B4-BE49-F238E27FC236}">
                <a16:creationId xmlns:a16="http://schemas.microsoft.com/office/drawing/2014/main" id="{C9BC2DA7-6D86-46C2-8E65-E20483C76FD1}"/>
              </a:ext>
            </a:extLst>
          </p:cNvPr>
          <p:cNvPicPr>
            <a:picLocks noChangeAspect="1"/>
          </p:cNvPicPr>
          <p:nvPr/>
        </p:nvPicPr>
        <p:blipFill>
          <a:blip r:embed="rId3"/>
          <a:stretch>
            <a:fillRect/>
          </a:stretch>
        </p:blipFill>
        <p:spPr>
          <a:xfrm>
            <a:off x="3249637" y="1690688"/>
            <a:ext cx="5162843" cy="1424625"/>
          </a:xfrm>
          <a:prstGeom prst="rect">
            <a:avLst/>
          </a:prstGeom>
        </p:spPr>
      </p:pic>
      <p:pic>
        <p:nvPicPr>
          <p:cNvPr id="5" name="Image 4">
            <a:extLst>
              <a:ext uri="{FF2B5EF4-FFF2-40B4-BE49-F238E27FC236}">
                <a16:creationId xmlns:a16="http://schemas.microsoft.com/office/drawing/2014/main" id="{5C48D0B3-0F9B-4C6A-969F-AB4A9D6E442A}"/>
              </a:ext>
            </a:extLst>
          </p:cNvPr>
          <p:cNvPicPr>
            <a:picLocks noChangeAspect="1"/>
          </p:cNvPicPr>
          <p:nvPr/>
        </p:nvPicPr>
        <p:blipFill>
          <a:blip r:embed="rId4"/>
          <a:stretch>
            <a:fillRect/>
          </a:stretch>
        </p:blipFill>
        <p:spPr>
          <a:xfrm>
            <a:off x="0" y="3742688"/>
            <a:ext cx="6274190" cy="1574335"/>
          </a:xfrm>
          <a:prstGeom prst="rect">
            <a:avLst/>
          </a:prstGeom>
        </p:spPr>
      </p:pic>
      <p:pic>
        <p:nvPicPr>
          <p:cNvPr id="1028" name="Picture 4">
            <a:extLst>
              <a:ext uri="{FF2B5EF4-FFF2-40B4-BE49-F238E27FC236}">
                <a16:creationId xmlns:a16="http://schemas.microsoft.com/office/drawing/2014/main" id="{36AADD47-9299-4B96-98B7-313DA56F6F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6301212" y="3867073"/>
            <a:ext cx="5276811" cy="14246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10C431C-C13C-48DF-A21F-7EBC9E7200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8527" y="4772347"/>
            <a:ext cx="2344102" cy="23441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ED15A907-190D-45EE-BA71-6880597CB94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03667" y="5317023"/>
            <a:ext cx="4091940" cy="500126"/>
          </a:xfrm>
          <a:prstGeom prst="rect">
            <a:avLst/>
          </a:prstGeom>
        </p:spPr>
      </p:pic>
      <p:pic>
        <p:nvPicPr>
          <p:cNvPr id="7" name="Image 6">
            <a:extLst>
              <a:ext uri="{FF2B5EF4-FFF2-40B4-BE49-F238E27FC236}">
                <a16:creationId xmlns:a16="http://schemas.microsoft.com/office/drawing/2014/main" id="{917C853D-7590-42EE-B9AA-2A223F81546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404342" y="5297516"/>
            <a:ext cx="4091940" cy="486609"/>
          </a:xfrm>
          <a:prstGeom prst="rect">
            <a:avLst/>
          </a:prstGeom>
        </p:spPr>
      </p:pic>
      <p:sp>
        <p:nvSpPr>
          <p:cNvPr id="3" name="TextBox 2">
            <a:extLst>
              <a:ext uri="{FF2B5EF4-FFF2-40B4-BE49-F238E27FC236}">
                <a16:creationId xmlns:a16="http://schemas.microsoft.com/office/drawing/2014/main" id="{E56128DB-4A09-1FE2-4989-7E6A51ADE2FD}"/>
              </a:ext>
            </a:extLst>
          </p:cNvPr>
          <p:cNvSpPr txBox="1"/>
          <p:nvPr/>
        </p:nvSpPr>
        <p:spPr>
          <a:xfrm>
            <a:off x="638978" y="3115313"/>
            <a:ext cx="10857303" cy="369332"/>
          </a:xfrm>
          <a:prstGeom prst="rect">
            <a:avLst/>
          </a:prstGeom>
          <a:noFill/>
        </p:spPr>
        <p:txBody>
          <a:bodyPr wrap="square" rtlCol="0">
            <a:spAutoFit/>
          </a:bodyPr>
          <a:lstStyle/>
          <a:p>
            <a:pPr algn="ctr"/>
            <a:r>
              <a:rPr lang="fr-FR" noProof="0" dirty="0">
                <a:latin typeface="Cascadia Code SemiBold" panose="020B0609020000020004" pitchFamily="49" charset="0"/>
                <a:ea typeface="Cascadia Code SemiBold" panose="020B0609020000020004" pitchFamily="49" charset="0"/>
                <a:cs typeface="Cascadia Code SemiBold" panose="020B0609020000020004" pitchFamily="49" charset="0"/>
              </a:rPr>
              <a:t>On veut récupérer les changements fait en C dans notre branche fix/toto</a:t>
            </a:r>
          </a:p>
        </p:txBody>
      </p:sp>
    </p:spTree>
    <p:extLst>
      <p:ext uri="{BB962C8B-B14F-4D97-AF65-F5344CB8AC3E}">
        <p14:creationId xmlns:p14="http://schemas.microsoft.com/office/powerpoint/2010/main" val="200738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D0B31D04-E4B0-4171-956C-DA1150DA8575}"/>
              </a:ext>
            </a:extLst>
          </p:cNvPr>
          <p:cNvPicPr>
            <a:picLocks noChangeAspect="1"/>
          </p:cNvPicPr>
          <p:nvPr/>
        </p:nvPicPr>
        <p:blipFill>
          <a:blip r:embed="rId3"/>
          <a:stretch>
            <a:fillRect/>
          </a:stretch>
        </p:blipFill>
        <p:spPr>
          <a:xfrm>
            <a:off x="914400" y="1820360"/>
            <a:ext cx="9692640" cy="1358273"/>
          </a:xfrm>
          <a:prstGeom prst="rect">
            <a:avLst/>
          </a:prstGeom>
        </p:spPr>
      </p:pic>
      <p:pic>
        <p:nvPicPr>
          <p:cNvPr id="5" name="Image 4">
            <a:extLst>
              <a:ext uri="{FF2B5EF4-FFF2-40B4-BE49-F238E27FC236}">
                <a16:creationId xmlns:a16="http://schemas.microsoft.com/office/drawing/2014/main" id="{8EF11EB2-86A1-49CE-BB1F-6165285E16A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89285" y="4039272"/>
            <a:ext cx="8942869" cy="1358272"/>
          </a:xfrm>
          <a:prstGeom prst="rect">
            <a:avLst/>
          </a:prstGeom>
        </p:spPr>
      </p:pic>
      <p:sp>
        <p:nvSpPr>
          <p:cNvPr id="6" name="Titre 1">
            <a:extLst>
              <a:ext uri="{FF2B5EF4-FFF2-40B4-BE49-F238E27FC236}">
                <a16:creationId xmlns:a16="http://schemas.microsoft.com/office/drawing/2014/main" id="{00805FEF-C04F-439A-8476-358DD4803899}"/>
              </a:ext>
            </a:extLst>
          </p:cNvPr>
          <p:cNvSpPr>
            <a:spLocks noGrp="1"/>
          </p:cNvSpPr>
          <p:nvPr>
            <p:ph type="title"/>
          </p:nvPr>
        </p:nvSpPr>
        <p:spPr>
          <a:xfrm>
            <a:off x="1174376" y="365125"/>
            <a:ext cx="9843247" cy="1325563"/>
          </a:xfrm>
        </p:spPr>
        <p:txBody>
          <a:bodyPr/>
          <a:lstStyle/>
          <a:p>
            <a:r>
              <a:rPr lang="fr-FR" noProof="0" dirty="0"/>
              <a:t>Sur la durée…</a:t>
            </a:r>
          </a:p>
        </p:txBody>
      </p:sp>
      <p:pic>
        <p:nvPicPr>
          <p:cNvPr id="2" name="Picture 1">
            <a:extLst>
              <a:ext uri="{FF2B5EF4-FFF2-40B4-BE49-F238E27FC236}">
                <a16:creationId xmlns:a16="http://schemas.microsoft.com/office/drawing/2014/main" id="{02AA47D4-E8F3-4691-490D-64A91A174462}"/>
              </a:ext>
            </a:extLst>
          </p:cNvPr>
          <p:cNvPicPr>
            <a:picLocks noChangeAspect="1"/>
          </p:cNvPicPr>
          <p:nvPr/>
        </p:nvPicPr>
        <p:blipFill>
          <a:blip r:embed="rId5"/>
          <a:stretch>
            <a:fillRect/>
          </a:stretch>
        </p:blipFill>
        <p:spPr>
          <a:xfrm>
            <a:off x="3248138" y="5397544"/>
            <a:ext cx="5695720" cy="1095331"/>
          </a:xfrm>
          <a:prstGeom prst="rect">
            <a:avLst/>
          </a:prstGeom>
        </p:spPr>
      </p:pic>
      <p:pic>
        <p:nvPicPr>
          <p:cNvPr id="7" name="Picture 6">
            <a:extLst>
              <a:ext uri="{FF2B5EF4-FFF2-40B4-BE49-F238E27FC236}">
                <a16:creationId xmlns:a16="http://schemas.microsoft.com/office/drawing/2014/main" id="{084A9C2E-42F1-0E69-6864-65E9F74C224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923839" y="3136328"/>
            <a:ext cx="4344319" cy="543040"/>
          </a:xfrm>
          <a:prstGeom prst="rect">
            <a:avLst/>
          </a:prstGeom>
        </p:spPr>
      </p:pic>
    </p:spTree>
    <p:extLst>
      <p:ext uri="{BB962C8B-B14F-4D97-AF65-F5344CB8AC3E}">
        <p14:creationId xmlns:p14="http://schemas.microsoft.com/office/powerpoint/2010/main" val="17712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C5169-1CB8-2CE8-E55F-8FBE7C358C0D}"/>
              </a:ext>
            </a:extLst>
          </p:cNvPr>
          <p:cNvSpPr>
            <a:spLocks noGrp="1"/>
          </p:cNvSpPr>
          <p:nvPr>
            <p:ph type="title"/>
          </p:nvPr>
        </p:nvSpPr>
        <p:spPr/>
        <p:txBody>
          <a:bodyPr/>
          <a:lstStyle/>
          <a:p>
            <a:r>
              <a:rPr lang="fr-FR" noProof="0" dirty="0"/>
              <a:t>La fusion rapide</a:t>
            </a:r>
          </a:p>
        </p:txBody>
      </p:sp>
      <p:sp>
        <p:nvSpPr>
          <p:cNvPr id="3" name="Content Placeholder 2">
            <a:extLst>
              <a:ext uri="{FF2B5EF4-FFF2-40B4-BE49-F238E27FC236}">
                <a16:creationId xmlns:a16="http://schemas.microsoft.com/office/drawing/2014/main" id="{BF7608D8-F1A5-F157-26AC-55234379F7FD}"/>
              </a:ext>
            </a:extLst>
          </p:cNvPr>
          <p:cNvSpPr>
            <a:spLocks noGrp="1"/>
          </p:cNvSpPr>
          <p:nvPr>
            <p:ph idx="1"/>
          </p:nvPr>
        </p:nvSpPr>
        <p:spPr/>
        <p:txBody>
          <a:bodyPr/>
          <a:lstStyle/>
          <a:p>
            <a:r>
              <a:rPr lang="fr-FR" noProof="0" dirty="0"/>
              <a:t>Une option facilitée par les </a:t>
            </a:r>
            <a:r>
              <a:rPr lang="fr-FR" i="1" noProof="0" dirty="0"/>
              <a:t>rebase</a:t>
            </a:r>
            <a:r>
              <a:rPr lang="fr-FR" noProof="0" dirty="0"/>
              <a:t> fréquents : le “fast-</a:t>
            </a:r>
            <a:r>
              <a:rPr lang="fr-FR" noProof="0" dirty="0" err="1"/>
              <a:t>forward</a:t>
            </a:r>
            <a:r>
              <a:rPr lang="fr-FR" noProof="0" dirty="0"/>
              <a:t>”</a:t>
            </a:r>
          </a:p>
        </p:txBody>
      </p:sp>
      <p:pic>
        <p:nvPicPr>
          <p:cNvPr id="5" name="Picture 4">
            <a:extLst>
              <a:ext uri="{FF2B5EF4-FFF2-40B4-BE49-F238E27FC236}">
                <a16:creationId xmlns:a16="http://schemas.microsoft.com/office/drawing/2014/main" id="{F4590D58-4322-8DAB-2B6A-30846EF66D2F}"/>
              </a:ext>
            </a:extLst>
          </p:cNvPr>
          <p:cNvPicPr>
            <a:picLocks noChangeAspect="1"/>
          </p:cNvPicPr>
          <p:nvPr/>
        </p:nvPicPr>
        <p:blipFill>
          <a:blip r:embed="rId3"/>
          <a:stretch>
            <a:fillRect/>
          </a:stretch>
        </p:blipFill>
        <p:spPr>
          <a:xfrm>
            <a:off x="1174376" y="2745511"/>
            <a:ext cx="9503764" cy="2511565"/>
          </a:xfrm>
          <a:prstGeom prst="rect">
            <a:avLst/>
          </a:prstGeom>
        </p:spPr>
      </p:pic>
      <p:pic>
        <p:nvPicPr>
          <p:cNvPr id="6" name="Picture 5">
            <a:extLst>
              <a:ext uri="{FF2B5EF4-FFF2-40B4-BE49-F238E27FC236}">
                <a16:creationId xmlns:a16="http://schemas.microsoft.com/office/drawing/2014/main" id="{12192856-B5A0-C6EF-8A66-FAE28F35BC5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4377" y="2745511"/>
            <a:ext cx="9503761" cy="2511565"/>
          </a:xfrm>
          <a:prstGeom prst="rect">
            <a:avLst/>
          </a:prstGeom>
        </p:spPr>
      </p:pic>
      <p:pic>
        <p:nvPicPr>
          <p:cNvPr id="7" name="Picture 6">
            <a:extLst>
              <a:ext uri="{FF2B5EF4-FFF2-40B4-BE49-F238E27FC236}">
                <a16:creationId xmlns:a16="http://schemas.microsoft.com/office/drawing/2014/main" id="{C38F16E8-76FC-E99A-E83A-9A7770C1C01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74375" y="2745511"/>
            <a:ext cx="9503761" cy="2511564"/>
          </a:xfrm>
          <a:prstGeom prst="rect">
            <a:avLst/>
          </a:prstGeom>
        </p:spPr>
      </p:pic>
      <p:pic>
        <p:nvPicPr>
          <p:cNvPr id="1026" name="Picture 2">
            <a:extLst>
              <a:ext uri="{FF2B5EF4-FFF2-40B4-BE49-F238E27FC236}">
                <a16:creationId xmlns:a16="http://schemas.microsoft.com/office/drawing/2014/main" id="{1B676F4A-9666-5DE7-47A6-F17E931F54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8088" y="5529696"/>
            <a:ext cx="5295821" cy="647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78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223B-12D0-A34F-076C-293C4851AFFB}"/>
              </a:ext>
            </a:extLst>
          </p:cNvPr>
          <p:cNvSpPr>
            <a:spLocks noGrp="1"/>
          </p:cNvSpPr>
          <p:nvPr>
            <p:ph type="title"/>
          </p:nvPr>
        </p:nvSpPr>
        <p:spPr/>
        <p:txBody>
          <a:bodyPr/>
          <a:lstStyle/>
          <a:p>
            <a:r>
              <a:rPr lang="fr-FR" noProof="0" dirty="0"/>
              <a:t>Ou pas</a:t>
            </a:r>
          </a:p>
        </p:txBody>
      </p:sp>
      <p:sp>
        <p:nvSpPr>
          <p:cNvPr id="3" name="Content Placeholder 2">
            <a:extLst>
              <a:ext uri="{FF2B5EF4-FFF2-40B4-BE49-F238E27FC236}">
                <a16:creationId xmlns:a16="http://schemas.microsoft.com/office/drawing/2014/main" id="{B98A02E5-D12A-AEBA-DA0F-FB354498DB5D}"/>
              </a:ext>
            </a:extLst>
          </p:cNvPr>
          <p:cNvSpPr>
            <a:spLocks noGrp="1"/>
          </p:cNvSpPr>
          <p:nvPr>
            <p:ph idx="1"/>
          </p:nvPr>
        </p:nvSpPr>
        <p:spPr/>
        <p:txBody>
          <a:bodyPr/>
          <a:lstStyle/>
          <a:p>
            <a:r>
              <a:rPr lang="fr-FR" noProof="0" dirty="0"/>
              <a:t>On peut désactiver avec l’option --no-</a:t>
            </a:r>
            <a:r>
              <a:rPr lang="fr-FR" noProof="0" dirty="0" err="1"/>
              <a:t>ff</a:t>
            </a:r>
            <a:endParaRPr lang="fr-FR" noProof="0" dirty="0"/>
          </a:p>
        </p:txBody>
      </p:sp>
      <p:pic>
        <p:nvPicPr>
          <p:cNvPr id="4" name="Picture 3">
            <a:extLst>
              <a:ext uri="{FF2B5EF4-FFF2-40B4-BE49-F238E27FC236}">
                <a16:creationId xmlns:a16="http://schemas.microsoft.com/office/drawing/2014/main" id="{57B0FED4-316E-B719-69D2-D1D90EB48B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375" y="2820408"/>
            <a:ext cx="9503761" cy="2361769"/>
          </a:xfrm>
          <a:prstGeom prst="rect">
            <a:avLst/>
          </a:prstGeom>
        </p:spPr>
      </p:pic>
      <p:pic>
        <p:nvPicPr>
          <p:cNvPr id="5" name="Picture 2">
            <a:extLst>
              <a:ext uri="{FF2B5EF4-FFF2-40B4-BE49-F238E27FC236}">
                <a16:creationId xmlns:a16="http://schemas.microsoft.com/office/drawing/2014/main" id="{09C435A8-7054-7C06-9508-28A0855DA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712578" y="5476352"/>
            <a:ext cx="7324550" cy="700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24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91F0-4564-5877-C183-585A6773195D}"/>
              </a:ext>
            </a:extLst>
          </p:cNvPr>
          <p:cNvSpPr>
            <a:spLocks noGrp="1"/>
          </p:cNvSpPr>
          <p:nvPr>
            <p:ph type="title"/>
          </p:nvPr>
        </p:nvSpPr>
        <p:spPr/>
        <p:txBody>
          <a:bodyPr/>
          <a:lstStyle/>
          <a:p>
            <a:r>
              <a:rPr lang="fr-FR" noProof="0" dirty="0"/>
              <a:t>La fusion avec écrasement</a:t>
            </a:r>
          </a:p>
        </p:txBody>
      </p:sp>
      <p:pic>
        <p:nvPicPr>
          <p:cNvPr id="4" name="Picture 3">
            <a:extLst>
              <a:ext uri="{FF2B5EF4-FFF2-40B4-BE49-F238E27FC236}">
                <a16:creationId xmlns:a16="http://schemas.microsoft.com/office/drawing/2014/main" id="{51B46BCE-21B2-5983-F454-842B4966BB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376" y="2820408"/>
            <a:ext cx="9503758" cy="2361769"/>
          </a:xfrm>
          <a:prstGeom prst="rect">
            <a:avLst/>
          </a:prstGeom>
        </p:spPr>
      </p:pic>
      <p:pic>
        <p:nvPicPr>
          <p:cNvPr id="5" name="Picture 2">
            <a:extLst>
              <a:ext uri="{FF2B5EF4-FFF2-40B4-BE49-F238E27FC236}">
                <a16:creationId xmlns:a16="http://schemas.microsoft.com/office/drawing/2014/main" id="{08B5308F-EA6D-5A26-DD38-58B6BAD09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712578" y="5487414"/>
            <a:ext cx="7324550" cy="6784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270E790-30A8-39F1-CE4B-13DB69A8F76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74376" y="2820407"/>
            <a:ext cx="9503758" cy="2361768"/>
          </a:xfrm>
          <a:prstGeom prst="rect">
            <a:avLst/>
          </a:prstGeom>
        </p:spPr>
      </p:pic>
      <p:pic>
        <p:nvPicPr>
          <p:cNvPr id="7" name="Picture 2">
            <a:extLst>
              <a:ext uri="{FF2B5EF4-FFF2-40B4-BE49-F238E27FC236}">
                <a16:creationId xmlns:a16="http://schemas.microsoft.com/office/drawing/2014/main" id="{EF9848CB-405F-7489-F0D2-42DDC6DA68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2762820" y="5477366"/>
            <a:ext cx="8568098" cy="1071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27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0BCF-860E-BED3-A99B-0099C884D1DD}"/>
              </a:ext>
            </a:extLst>
          </p:cNvPr>
          <p:cNvSpPr>
            <a:spLocks noGrp="1"/>
          </p:cNvSpPr>
          <p:nvPr>
            <p:ph type="title"/>
          </p:nvPr>
        </p:nvSpPr>
        <p:spPr/>
        <p:txBody>
          <a:bodyPr/>
          <a:lstStyle/>
          <a:p>
            <a:r>
              <a:rPr lang="fr-FR" noProof="0" dirty="0"/>
              <a:t>Branches distantes</a:t>
            </a:r>
          </a:p>
        </p:txBody>
      </p:sp>
      <p:sp>
        <p:nvSpPr>
          <p:cNvPr id="3" name="Content Placeholder 2">
            <a:extLst>
              <a:ext uri="{FF2B5EF4-FFF2-40B4-BE49-F238E27FC236}">
                <a16:creationId xmlns:a16="http://schemas.microsoft.com/office/drawing/2014/main" id="{C8BB992A-54D8-4C7A-7807-DAFDBE3DA5AD}"/>
              </a:ext>
            </a:extLst>
          </p:cNvPr>
          <p:cNvSpPr>
            <a:spLocks noGrp="1"/>
          </p:cNvSpPr>
          <p:nvPr>
            <p:ph idx="1"/>
          </p:nvPr>
        </p:nvSpPr>
        <p:spPr/>
        <p:txBody>
          <a:bodyPr/>
          <a:lstStyle/>
          <a:p>
            <a:r>
              <a:rPr lang="fr-FR" dirty="0"/>
              <a:t>Git est un dépôt distant !</a:t>
            </a:r>
          </a:p>
          <a:p>
            <a:pPr lvl="1"/>
            <a:r>
              <a:rPr lang="fr-FR" noProof="0" dirty="0"/>
              <a:t>Sauvegarder son travail, partager avec autrui</a:t>
            </a:r>
          </a:p>
          <a:p>
            <a:pPr lvl="1"/>
            <a:r>
              <a:rPr lang="fr-FR" noProof="0" dirty="0"/>
              <a:t>On peut </a:t>
            </a:r>
            <a:r>
              <a:rPr lang="fr-FR" dirty="0"/>
              <a:t>cloner un répertoire local ou distant, via divers protocoles</a:t>
            </a:r>
          </a:p>
          <a:p>
            <a:r>
              <a:rPr lang="fr-FR" noProof="0" dirty="0" err="1"/>
              <a:t>Github</a:t>
            </a:r>
            <a:r>
              <a:rPr lang="fr-FR" noProof="0" dirty="0"/>
              <a:t>, git</a:t>
            </a:r>
            <a:r>
              <a:rPr lang="fr-FR" dirty="0" err="1"/>
              <a:t>lab</a:t>
            </a:r>
            <a:r>
              <a:rPr lang="fr-FR" dirty="0"/>
              <a:t>, </a:t>
            </a:r>
            <a:r>
              <a:rPr lang="fr-FR" dirty="0" err="1"/>
              <a:t>codeberg</a:t>
            </a:r>
            <a:r>
              <a:rPr lang="fr-FR" dirty="0"/>
              <a:t>, </a:t>
            </a:r>
            <a:r>
              <a:rPr lang="fr-FR" dirty="0" err="1"/>
              <a:t>bitbucket</a:t>
            </a:r>
            <a:r>
              <a:rPr lang="fr-FR" dirty="0"/>
              <a:t> viennent ajouter à git</a:t>
            </a:r>
          </a:p>
          <a:p>
            <a:pPr lvl="1"/>
            <a:r>
              <a:rPr lang="fr-FR" dirty="0"/>
              <a:t>Gestion de projets, outils de collaboration, fonctionnalités avancées comme la gestion des problèmes, gestion poussée des branches, CI/CD… </a:t>
            </a:r>
          </a:p>
        </p:txBody>
      </p:sp>
      <p:pic>
        <p:nvPicPr>
          <p:cNvPr id="5" name="Picture 4" descr="Merge blocked message from Gitlab">
            <a:extLst>
              <a:ext uri="{FF2B5EF4-FFF2-40B4-BE49-F238E27FC236}">
                <a16:creationId xmlns:a16="http://schemas.microsoft.com/office/drawing/2014/main" id="{831759DF-BC37-BE6D-60F7-87E092FD0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620" y="4455772"/>
            <a:ext cx="10708757" cy="2117489"/>
          </a:xfrm>
          <a:prstGeom prst="rect">
            <a:avLst/>
          </a:prstGeom>
        </p:spPr>
      </p:pic>
    </p:spTree>
    <p:extLst>
      <p:ext uri="{BB962C8B-B14F-4D97-AF65-F5344CB8AC3E}">
        <p14:creationId xmlns:p14="http://schemas.microsoft.com/office/powerpoint/2010/main" val="39124722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1516</TotalTime>
  <Words>2349</Words>
  <Application>Microsoft Office PowerPoint</Application>
  <PresentationFormat>Widescreen</PresentationFormat>
  <Paragraphs>134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Cascadia Code SemiBold</vt:lpstr>
      <vt:lpstr>Thème Office</vt:lpstr>
      <vt:lpstr>Git 201 Advanced Source Version Control</vt:lpstr>
      <vt:lpstr>Branches – gitflow etc</vt:lpstr>
      <vt:lpstr>Branches – trunk-based</vt:lpstr>
      <vt:lpstr>Fusion</vt:lpstr>
      <vt:lpstr>Conflits</vt:lpstr>
      <vt:lpstr>Éviter les conflits</vt:lpstr>
      <vt:lpstr>Se mettre à jour</vt:lpstr>
      <vt:lpstr>Sur la durée…</vt:lpstr>
      <vt:lpstr>La fusion rapide</vt:lpstr>
      <vt:lpstr>Ou pas</vt:lpstr>
      <vt:lpstr>La fusion avec écrasement</vt:lpstr>
      <vt:lpstr>Branches distantes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Git</dc:title>
  <dc:creator>JOFRESA Philippe</dc:creator>
  <cp:lastModifiedBy>Philippe Jofresa</cp:lastModifiedBy>
  <cp:revision>164</cp:revision>
  <dcterms:created xsi:type="dcterms:W3CDTF">2025-11-13T07:57:26Z</dcterms:created>
  <dcterms:modified xsi:type="dcterms:W3CDTF">2025-12-09T19:53:13Z</dcterms:modified>
</cp:coreProperties>
</file>