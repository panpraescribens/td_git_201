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1" r:id="rId3"/>
    <p:sldId id="270" r:id="rId4"/>
    <p:sldId id="262" r:id="rId5"/>
    <p:sldId id="263" r:id="rId6"/>
    <p:sldId id="271" r:id="rId7"/>
    <p:sldId id="266" r:id="rId8"/>
    <p:sldId id="272" r:id="rId9"/>
    <p:sldId id="274" r:id="rId10"/>
    <p:sldId id="275" r:id="rId11"/>
    <p:sldId id="276" r:id="rId12"/>
    <p:sldId id="273"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6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992" autoAdjust="0"/>
  </p:normalViewPr>
  <p:slideViewPr>
    <p:cSldViewPr snapToGrid="0">
      <p:cViewPr varScale="1">
        <p:scale>
          <a:sx n="87" d="100"/>
          <a:sy n="87" d="100"/>
        </p:scale>
        <p:origin x="108" y="6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A43593-DDDC-43AF-AC2F-93C8ECCD9EA1}" type="datetimeFigureOut">
              <a:rPr lang="fr-FR" smtClean="0"/>
              <a:t>07/12/2025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771A9F-1700-46FF-B6E9-7591AA9C8781}" type="slidenum">
              <a:rPr lang="fr-FR" smtClean="0"/>
              <a:t>‹#›</a:t>
            </a:fld>
            <a:endParaRPr lang="fr-FR"/>
          </a:p>
        </p:txBody>
      </p:sp>
    </p:spTree>
    <p:extLst>
      <p:ext uri="{BB962C8B-B14F-4D97-AF65-F5344CB8AC3E}">
        <p14:creationId xmlns:p14="http://schemas.microsoft.com/office/powerpoint/2010/main" val="484052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Rappel : l’objectif de ces quelques cours, c’est de vous donner des outils utiles pour vous sortir du pétrin.</a:t>
            </a:r>
          </a:p>
          <a:p>
            <a:r>
              <a:rPr lang="fr-FR" dirty="0"/>
              <a:t>Du coup je me concentre pas forcément sur ce que vous allez utiliser au quotidien, mais justement, le jour où vous en avez besoin, vous aurez assez d’éléments pour ne pas être paralysés par la peur de l’inconnu.</a:t>
            </a:r>
          </a:p>
          <a:p>
            <a:r>
              <a:rPr lang="fr-FR" dirty="0"/>
              <a:t>Gérer un conflit de fusion de branche, c’est du normal.</a:t>
            </a:r>
          </a:p>
          <a:p>
            <a:r>
              <a:rPr lang="fr-FR" dirty="0"/>
              <a:t>Faire un rollback après un rebase malencontreux, c’est ce que je veux que vous soyez à l’aise de faire si ça vous arrive.</a:t>
            </a:r>
          </a:p>
          <a:p>
            <a:endParaRPr lang="fr-FR" dirty="0"/>
          </a:p>
          <a:p>
            <a:r>
              <a:rPr lang="fr-FR" dirty="0"/>
              <a:t>Et donc, pour commencer, un petit résumé de l’épisode précédent…</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1</a:t>
            </a:fld>
            <a:endParaRPr lang="fr-FR"/>
          </a:p>
        </p:txBody>
      </p:sp>
    </p:spTree>
    <p:extLst>
      <p:ext uri="{BB962C8B-B14F-4D97-AF65-F5344CB8AC3E}">
        <p14:creationId xmlns:p14="http://schemas.microsoft.com/office/powerpoint/2010/main" val="685193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Quand on « corrige » un commit, on ne va en fait pas modifier le commit. Par principe git ne modifie JAMAIS un commit créé.  </a:t>
            </a:r>
          </a:p>
          <a:p>
            <a:r>
              <a:rPr lang="fr-FR" dirty="0"/>
              <a:t>Vous souvenez-vous de la commande qu’on a apprise la dernière fois pour corriger le dernier commit fait ? </a:t>
            </a:r>
          </a:p>
          <a:p>
            <a:r>
              <a:rPr lang="fr-FR" b="1" dirty="0"/>
              <a:t>[CLICK]</a:t>
            </a:r>
          </a:p>
          <a:p>
            <a:r>
              <a:rPr lang="fr-FR" dirty="0"/>
              <a:t>En fait quand on fait la commande </a:t>
            </a:r>
            <a:r>
              <a:rPr lang="fr-FR" dirty="0" err="1"/>
              <a:t>amend</a:t>
            </a:r>
            <a:r>
              <a:rPr lang="fr-FR" dirty="0"/>
              <a:t>, on indique juste à git qu’on veut recréer un commit (c’est pour ça qu’on utilise ‘git commit’ !),</a:t>
            </a:r>
          </a:p>
          <a:p>
            <a:r>
              <a:rPr lang="fr-FR" dirty="0"/>
              <a:t>mais ce commit au lieu de venir s’ajouter à la fin de la chaine et pointer sur le dernier commit (7b05f5), va pointer au même endroit (même parent) que le dernier commit (890fed).</a:t>
            </a:r>
          </a:p>
          <a:p>
            <a:r>
              <a:rPr lang="fr-FR" b="1" dirty="0"/>
              <a:t>[CLICK]</a:t>
            </a:r>
          </a:p>
          <a:p>
            <a:r>
              <a:rPr lang="fr-FR" dirty="0"/>
              <a:t>Et bien sûr, la pointe de branche, la tête, devient ce commit. Le commit « corrigé » disparait ? </a:t>
            </a:r>
          </a:p>
          <a:p>
            <a:r>
              <a:rPr lang="fr-FR" dirty="0"/>
              <a:t>Non bien sûr ! Il est toujours là dans votre repo local, mais plus personne ne pointe dessus. </a:t>
            </a:r>
          </a:p>
          <a:p>
            <a:endParaRPr lang="fr-FR" dirty="0"/>
          </a:p>
          <a:p>
            <a:r>
              <a:rPr lang="fr-FR" dirty="0"/>
              <a:t>Plus personne… ?</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2</a:t>
            </a:fld>
            <a:endParaRPr lang="fr-FR"/>
          </a:p>
        </p:txBody>
      </p:sp>
    </p:spTree>
    <p:extLst>
      <p:ext uri="{BB962C8B-B14F-4D97-AF65-F5344CB8AC3E}">
        <p14:creationId xmlns:p14="http://schemas.microsoft.com/office/powerpoint/2010/main" val="4006038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…Si bien sûr. Il reste une trace de notre commit disparu dans le </a:t>
            </a:r>
            <a:r>
              <a:rPr lang="fr-FR" dirty="0" err="1"/>
              <a:t>reflog</a:t>
            </a:r>
            <a:r>
              <a:rPr lang="fr-FR" dirty="0"/>
              <a:t> ! </a:t>
            </a:r>
          </a:p>
          <a:p>
            <a:endParaRPr lang="fr-FR" dirty="0"/>
          </a:p>
          <a:p>
            <a:r>
              <a:rPr lang="fr-FR" dirty="0"/>
              <a:t>Il faut vraiment bien retenir la différence fondamentale entre le log – l’historique des </a:t>
            </a:r>
            <a:r>
              <a:rPr lang="fr-FR" dirty="0" err="1"/>
              <a:t>commits</a:t>
            </a:r>
            <a:r>
              <a:rPr lang="fr-FR" dirty="0"/>
              <a:t> depuis la racine jusqu’aux têtes des différentes branches existantes, donc – </a:t>
            </a:r>
          </a:p>
          <a:p>
            <a:r>
              <a:rPr lang="fr-FR" dirty="0"/>
              <a:t>et le </a:t>
            </a:r>
            <a:r>
              <a:rPr lang="fr-FR" dirty="0" err="1"/>
              <a:t>reflog</a:t>
            </a:r>
            <a:r>
              <a:rPr lang="fr-FR" dirty="0"/>
              <a:t>, qui lui représente votre historique </a:t>
            </a:r>
            <a:r>
              <a:rPr lang="fr-FR" i="1" dirty="0"/>
              <a:t>personnel</a:t>
            </a:r>
            <a:r>
              <a:rPr lang="fr-FR" dirty="0"/>
              <a:t>.</a:t>
            </a:r>
          </a:p>
          <a:p>
            <a:r>
              <a:rPr lang="fr-FR" dirty="0"/>
              <a:t>Cet historique, qui n’existe que localement, ne peut pas être manipulé (sauf pour le nettoyer), et peut contenir des références de </a:t>
            </a:r>
            <a:r>
              <a:rPr lang="fr-FR" dirty="0" err="1"/>
              <a:t>commits</a:t>
            </a:r>
            <a:r>
              <a:rPr lang="fr-FR" dirty="0"/>
              <a:t> qui ne font plus partie de branches actives.</a:t>
            </a:r>
          </a:p>
          <a:p>
            <a:endParaRPr lang="fr-FR" dirty="0"/>
          </a:p>
          <a:p>
            <a:r>
              <a:rPr lang="fr-FR" dirty="0"/>
              <a:t>Le log, l’historique final, a pour vocation d’être éventuellement envoyé sur un repo distant, et donc partagé avec autrui.</a:t>
            </a:r>
          </a:p>
          <a:p>
            <a:endParaRPr lang="fr-FR" dirty="0"/>
          </a:p>
          <a:p>
            <a:r>
              <a:rPr lang="fr-FR" dirty="0"/>
              <a:t>Cela arrive via la commande git push qui envoie uniquement la branche en cours (et il faut bien penser à configurer un repo/branche distant, attention!)</a:t>
            </a:r>
          </a:p>
          <a:p>
            <a:endParaRPr lang="fr-FR" dirty="0"/>
          </a:p>
          <a:p>
            <a:r>
              <a:rPr lang="fr-FR" dirty="0"/>
              <a:t>Mais ça on ne va pas le voir aujourd’hui car notre objectif c’est de faire du travail propre et présentable sur sa machine, avant de l’envoyer ailleurs.</a:t>
            </a:r>
          </a:p>
          <a:p>
            <a:endParaRPr lang="fr-FR" dirty="0"/>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3</a:t>
            </a:fld>
            <a:endParaRPr lang="fr-FR"/>
          </a:p>
        </p:txBody>
      </p:sp>
    </p:spTree>
    <p:extLst>
      <p:ext uri="{BB962C8B-B14F-4D97-AF65-F5344CB8AC3E}">
        <p14:creationId xmlns:p14="http://schemas.microsoft.com/office/powerpoint/2010/main" val="1282671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 bien vu la semaine dernière comment revenir en arrière. </a:t>
            </a:r>
          </a:p>
          <a:p>
            <a:endParaRPr lang="fr-FR" b="1" dirty="0"/>
          </a:p>
          <a:p>
            <a:r>
              <a:rPr lang="fr-FR" b="1" dirty="0"/>
              <a:t>[CLICK]</a:t>
            </a:r>
            <a:r>
              <a:rPr lang="fr-FR" dirty="0"/>
              <a:t> git reset nous permet de </a:t>
            </a:r>
            <a:r>
              <a:rPr lang="fr-FR" i="1" dirty="0"/>
              <a:t>déplacer le pointeur de la branche courante</a:t>
            </a:r>
          </a:p>
          <a:p>
            <a:r>
              <a:rPr lang="fr-FR" i="0" dirty="0"/>
              <a:t>Bien sûr git ne modifie pas les commit existants, et donc il n’efface rien non plus !</a:t>
            </a:r>
            <a:br>
              <a:rPr lang="fr-FR" i="0" dirty="0"/>
            </a:br>
            <a:r>
              <a:rPr lang="fr-FR" i="0" dirty="0"/>
              <a:t>Quand on revient en arrière, on déplace juste un pointeur, on n’efface pas le commit non voulu.</a:t>
            </a:r>
            <a:br>
              <a:rPr lang="fr-FR" i="0" dirty="0"/>
            </a:br>
            <a:r>
              <a:rPr lang="fr-FR" i="0" dirty="0"/>
              <a:t>Il existe toujours sur notre repo local, et est toujours visible dans le </a:t>
            </a:r>
            <a:r>
              <a:rPr lang="fr-FR" b="1" i="0" dirty="0" err="1"/>
              <a:t>reflog</a:t>
            </a:r>
            <a:r>
              <a:rPr lang="fr-FR" i="0" dirty="0"/>
              <a:t>.</a:t>
            </a:r>
            <a:r>
              <a:rPr lang="fr-FR" i="1"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i="1" dirty="0"/>
              <a:t>NB :</a:t>
            </a:r>
            <a:r>
              <a:rPr lang="fr-FR" i="0" dirty="0"/>
              <a:t> HEAD~1 nous permet de revenir en arrière, mais pour revenir en avant ? Soit un hash issu du </a:t>
            </a:r>
            <a:r>
              <a:rPr lang="fr-FR" i="0" dirty="0" err="1"/>
              <a:t>reflog</a:t>
            </a:r>
            <a:r>
              <a:rPr lang="fr-FR" i="0" dirty="0"/>
              <a:t>, soit ORIG_HEAD (qui existe exactement pour ça)</a:t>
            </a:r>
          </a:p>
          <a:p>
            <a:r>
              <a:rPr lang="fr-FR" b="1" i="0" dirty="0"/>
              <a:t>[CLICK]</a:t>
            </a:r>
            <a:r>
              <a:rPr lang="fr-FR" b="0" i="0" dirty="0"/>
              <a:t> git reset ORIG_HEAD / git reset 8f76fb nous permet de revenir à nouveau vers le commit.</a:t>
            </a:r>
            <a:br>
              <a:rPr lang="fr-FR" i="1" dirty="0"/>
            </a:br>
            <a:r>
              <a:rPr lang="fr-FR" i="1" dirty="0"/>
              <a:t>NB :</a:t>
            </a:r>
            <a:r>
              <a:rPr lang="fr-FR" i="0" dirty="0"/>
              <a:t> oubliez pas git </a:t>
            </a:r>
            <a:r>
              <a:rPr lang="fr-FR" i="0" dirty="0" err="1"/>
              <a:t>rev</a:t>
            </a:r>
            <a:r>
              <a:rPr lang="fr-FR" i="0" dirty="0"/>
              <a:t>-parse pour savoir exactement vers quel hash une référence symbolique pointe !</a:t>
            </a:r>
          </a:p>
          <a:p>
            <a:endParaRPr lang="fr-FR" i="0" dirty="0"/>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4</a:t>
            </a:fld>
            <a:endParaRPr lang="fr-FR"/>
          </a:p>
        </p:txBody>
      </p:sp>
    </p:spTree>
    <p:extLst>
      <p:ext uri="{BB962C8B-B14F-4D97-AF65-F5344CB8AC3E}">
        <p14:creationId xmlns:p14="http://schemas.microsoft.com/office/powerpoint/2010/main" val="2235117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ATTENTION : les patterns sont pris en compte PARTOUT dans le repo, sauf si le pattern est précis.</a:t>
            </a:r>
          </a:p>
          <a:p>
            <a:r>
              <a:rPr lang="fr-FR" dirty="0"/>
              <a:t>Donc /test/**/ignore va aller ignorer seulement dans tous les sous-répertoires de /test/ mais « ignore » tout seul ira ignorer tous les fichiers ignore partout !</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5</a:t>
            </a:fld>
            <a:endParaRPr lang="fr-FR"/>
          </a:p>
        </p:txBody>
      </p:sp>
    </p:spTree>
    <p:extLst>
      <p:ext uri="{BB962C8B-B14F-4D97-AF65-F5344CB8AC3E}">
        <p14:creationId xmlns:p14="http://schemas.microsoft.com/office/powerpoint/2010/main" val="267385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Typiquement on ne travaille pas sur la branche principale de notre repo (ici master). On crée des branches. Par exemple ici on a un commit qui représente l’état de notre </a:t>
            </a:r>
            <a:r>
              <a:rPr lang="fr-FR" dirty="0" err="1"/>
              <a:t>répo</a:t>
            </a:r>
            <a:r>
              <a:rPr lang="fr-FR" dirty="0"/>
              <a:t> après avoir déployé une version 2.0 de notre logiciel. On voit un tag, on voit la branche master, et on voit aussi HEAD parce qu’on vient de faire une opération sur master.</a:t>
            </a:r>
          </a:p>
          <a:p>
            <a:r>
              <a:rPr lang="fr-FR" dirty="0"/>
              <a:t>[CLICK] Si on crée une branche, elle va normalement pointer à l’endroit où on est actuellement. Ici donc, on a un nouveau pointeur sur 890fed. En pratique on a rien créé d’autre. Le commit n’est pas dupliqué. Que se passe-t-il quand on travaille sur cette branche par contre ?</a:t>
            </a:r>
          </a:p>
          <a:p>
            <a:r>
              <a:rPr lang="fr-FR" dirty="0"/>
              <a:t>[CLICK] Et bien HEAD va venir pointer sur le dernier commit effectué comme de normale, et on voit que maintenant le label de la branche est bien sur le dernier commit. De son côté master ne bouge pas puisqu’on n’y a pas touché.</a:t>
            </a:r>
          </a:p>
          <a:p>
            <a:endParaRPr lang="fr-FR" dirty="0"/>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6</a:t>
            </a:fld>
            <a:endParaRPr lang="fr-FR"/>
          </a:p>
        </p:txBody>
      </p:sp>
    </p:spTree>
    <p:extLst>
      <p:ext uri="{BB962C8B-B14F-4D97-AF65-F5344CB8AC3E}">
        <p14:creationId xmlns:p14="http://schemas.microsoft.com/office/powerpoint/2010/main" val="2527797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D’ailleurs prenons une erreur typique : on crée une branche et on commence à dev pensant être dessus, alors qu’en fait on est resté sur la branche principale.</a:t>
            </a:r>
          </a:p>
          <a:p>
            <a:r>
              <a:rPr lang="fr-FR" dirty="0"/>
              <a:t>Notre première action va être de faire pointer feat-toto au bon endroit. On veut « déplacer le commit dans la branche » . En réalité, on dit juste au pointeur de la branche qu’il doit pointer sur notre dernier commit. Avec git reset </a:t>
            </a:r>
          </a:p>
          <a:p>
            <a:r>
              <a:rPr lang="fr-FR" dirty="0"/>
              <a:t>[CLICK]</a:t>
            </a:r>
          </a:p>
          <a:p>
            <a:r>
              <a:rPr lang="fr-FR" dirty="0"/>
              <a:t>Mais on veut « effacer » ce commit de notre branche principale car il est trop tôt pour l’y fusionner. Comment va-t-on « effacer »?</a:t>
            </a:r>
          </a:p>
          <a:p>
            <a:r>
              <a:rPr lang="fr-FR" dirty="0"/>
              <a:t>[CLICK] </a:t>
            </a:r>
          </a:p>
          <a:p>
            <a:r>
              <a:rPr lang="fr-FR" dirty="0"/>
              <a:t>Pareil, avec un git reset qui va repositionner notre pointeur de la branche master sur le dernier commit voulu.</a:t>
            </a:r>
          </a:p>
          <a:p>
            <a:endParaRPr lang="fr-FR" dirty="0"/>
          </a:p>
          <a:p>
            <a:r>
              <a:rPr lang="fr-FR" dirty="0"/>
              <a:t>Avouons-le, ici la seule chose qu’on a déplacé, ce sont des têtes de branches.</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7</a:t>
            </a:fld>
            <a:endParaRPr lang="fr-FR"/>
          </a:p>
        </p:txBody>
      </p:sp>
    </p:spTree>
    <p:extLst>
      <p:ext uri="{BB962C8B-B14F-4D97-AF65-F5344CB8AC3E}">
        <p14:creationId xmlns:p14="http://schemas.microsoft.com/office/powerpoint/2010/main" val="8902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Mais que ce passe-t-il dans une situation un peu plus complexe (et plus commune dans la pratique)?</a:t>
            </a:r>
          </a:p>
          <a:p>
            <a:r>
              <a:rPr lang="fr-FR" dirty="0"/>
              <a:t>Quand par exemple on a fait plusieurs </a:t>
            </a:r>
            <a:r>
              <a:rPr lang="fr-FR" dirty="0" err="1"/>
              <a:t>commits</a:t>
            </a:r>
            <a:r>
              <a:rPr lang="fr-FR" dirty="0"/>
              <a:t> sur la mauvaise branche, et qu’on veut déplacer tout ça sur une autre branche ? Là on ne peut pas juste déplacer notre pointeur de branche avec un reset. </a:t>
            </a:r>
          </a:p>
          <a:p>
            <a:r>
              <a:rPr lang="fr-FR" dirty="0"/>
              <a:t>Notre exemple précédent était trivial, car les branches n’avaient pas encore divergées. Mais ici on a des </a:t>
            </a:r>
            <a:r>
              <a:rPr lang="fr-FR" dirty="0" err="1"/>
              <a:t>commits</a:t>
            </a:r>
            <a:r>
              <a:rPr lang="fr-FR" dirty="0"/>
              <a:t> présents des deux côtés.</a:t>
            </a:r>
          </a:p>
          <a:p>
            <a:r>
              <a:rPr lang="fr-FR" dirty="0"/>
              <a:t>On va donc devoir utiliser une opération un peu plus avancée : un </a:t>
            </a:r>
            <a:r>
              <a:rPr lang="fr-FR" b="1" dirty="0"/>
              <a:t>rebase</a:t>
            </a:r>
            <a:r>
              <a:rPr lang="fr-FR" dirty="0"/>
              <a:t> ![CLICK]</a:t>
            </a:r>
          </a:p>
          <a:p>
            <a:endParaRPr lang="fr-FR" dirty="0"/>
          </a:p>
          <a:p>
            <a:r>
              <a:rPr lang="fr-FR" dirty="0"/>
              <a:t>Ici cette opération va nous servir à corriger une erreur, mais on verra ensuite qu’elle a d’autres utilités.</a:t>
            </a:r>
          </a:p>
          <a:p>
            <a:r>
              <a:rPr lang="fr-FR" b="1" dirty="0"/>
              <a:t>git rebase feat-toto master</a:t>
            </a:r>
            <a:r>
              <a:rPr lang="fr-FR" dirty="0"/>
              <a:t> va rebaser la branche master sur le bout de la branche feat-toto. </a:t>
            </a:r>
          </a:p>
          <a:p>
            <a:r>
              <a:rPr lang="fr-FR" dirty="0"/>
              <a:t>En d’autres termes, on va rejouer tous les </a:t>
            </a:r>
            <a:r>
              <a:rPr lang="fr-FR" dirty="0" err="1"/>
              <a:t>commits</a:t>
            </a:r>
            <a:r>
              <a:rPr lang="fr-FR" dirty="0"/>
              <a:t> de la branche master, divergeant de la branche feat-toto (donc B et C, v2 est </a:t>
            </a:r>
            <a:r>
              <a:rPr lang="fr-FR"/>
              <a:t>en commun), </a:t>
            </a:r>
            <a:r>
              <a:rPr lang="fr-FR" dirty="0"/>
              <a:t>à partir du bout de la branche feat-toto[CLICK]</a:t>
            </a:r>
          </a:p>
          <a:p>
            <a:endParaRPr lang="fr-FR" dirty="0"/>
          </a:p>
          <a:p>
            <a:r>
              <a:rPr lang="fr-FR" dirty="0"/>
              <a:t>Effectivement master se trouve alors à la suite de feat-toto. Il nous reste à déplacer les pointeurs de branches au bon endroit.</a:t>
            </a:r>
          </a:p>
          <a:p>
            <a:r>
              <a:rPr lang="fr-FR" dirty="0"/>
              <a:t>Feat-toto va revenir sur C’ et master sur 890fed. Autrement dit : [CLICK]</a:t>
            </a:r>
          </a:p>
          <a:p>
            <a:endParaRPr lang="fr-FR" dirty="0"/>
          </a:p>
          <a:p>
            <a:r>
              <a:rPr lang="fr-FR" dirty="0"/>
              <a:t>Des switch et des reset.</a:t>
            </a:r>
          </a:p>
          <a:p>
            <a:endParaRPr lang="fr-FR" dirty="0"/>
          </a:p>
          <a:p>
            <a:r>
              <a:rPr lang="fr-FR" dirty="0"/>
              <a:t>Notez que dans la doc, « feat-toto » est désigné comme </a:t>
            </a:r>
            <a:r>
              <a:rPr lang="fr-FR" i="1" dirty="0" err="1"/>
              <a:t>upstream</a:t>
            </a:r>
            <a:r>
              <a:rPr lang="fr-FR" dirty="0"/>
              <a:t> et master comme la branche (celle qu’on veut déplacer).</a:t>
            </a:r>
          </a:p>
          <a:p>
            <a:endParaRPr lang="fr-FR" dirty="0"/>
          </a:p>
          <a:p>
            <a:r>
              <a:rPr lang="fr-FR" dirty="0"/>
              <a:t>Notez aussi qu’il est plus probable que vous fassiez cette opération </a:t>
            </a:r>
            <a:r>
              <a:rPr lang="fr-FR" i="1" dirty="0"/>
              <a:t>par erreur</a:t>
            </a:r>
            <a:r>
              <a:rPr lang="fr-FR" dirty="0"/>
              <a:t>, en voulant justement déplacer feat-toto sur master. Mais grâce à ce cours, vous allez savoir comment corriger ça immédiatement ! (git reset –hard ORIG_HEAD)</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8</a:t>
            </a:fld>
            <a:endParaRPr lang="fr-FR"/>
          </a:p>
        </p:txBody>
      </p:sp>
    </p:spTree>
    <p:extLst>
      <p:ext uri="{BB962C8B-B14F-4D97-AF65-F5344CB8AC3E}">
        <p14:creationId xmlns:p14="http://schemas.microsoft.com/office/powerpoint/2010/main" val="3037021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Quand on fait un rebase « basique », la commande va remonter la branche à déplacer jusqu’à la fourche où elle a bifurqué de la branche qu’elle va utiliser comme nouvelle base. Elle remonte jusqu’en amont (d’où le nom d’</a:t>
            </a:r>
            <a:r>
              <a:rPr lang="fr-FR" i="1" dirty="0" err="1"/>
              <a:t>upstream</a:t>
            </a:r>
            <a:r>
              <a:rPr lang="fr-FR" dirty="0"/>
              <a:t> utilisé dans la doc)</a:t>
            </a:r>
          </a:p>
          <a:p>
            <a:endParaRPr lang="fr-FR" dirty="0"/>
          </a:p>
          <a:p>
            <a:r>
              <a:rPr lang="fr-FR" dirty="0"/>
              <a:t>Mais que se passe-t-il si on a un arbre un peu compliqué comme peut arriver dans du </a:t>
            </a:r>
            <a:r>
              <a:rPr lang="fr-FR" dirty="0" err="1"/>
              <a:t>gitflow</a:t>
            </a:r>
            <a:r>
              <a:rPr lang="fr-FR" dirty="0"/>
              <a:t> ?</a:t>
            </a:r>
          </a:p>
          <a:p>
            <a:endParaRPr lang="fr-FR" dirty="0"/>
          </a:p>
          <a:p>
            <a:r>
              <a:rPr lang="fr-FR" dirty="0"/>
              <a:t>Notez ici que j’utilise des noms idiots, mais vous pouvez imaginer que toto c’est votre branche DEV où tous les développements sont mis en commun, et dada est une branche de </a:t>
            </a:r>
            <a:r>
              <a:rPr lang="fr-FR" dirty="0" err="1"/>
              <a:t>feature</a:t>
            </a:r>
            <a:r>
              <a:rPr lang="fr-FR" dirty="0"/>
              <a:t>. Une situation complètement banale, donc ! </a:t>
            </a:r>
          </a:p>
          <a:p>
            <a:endParaRPr lang="fr-FR" dirty="0"/>
          </a:p>
          <a:p>
            <a:r>
              <a:rPr lang="fr-FR" dirty="0"/>
              <a:t>Et si par exemple on fait ici `git rebase master dada` ? Autrement dit « rebase la branche dada sur la branche master » </a:t>
            </a:r>
          </a:p>
          <a:p>
            <a:r>
              <a:rPr lang="fr-FR" dirty="0"/>
              <a:t>Pour être clair, on veut déplacer E et le poser en bout de branche master, juste après C.</a:t>
            </a:r>
          </a:p>
          <a:p>
            <a:endParaRPr lang="fr-FR" dirty="0"/>
          </a:p>
          <a:p>
            <a:r>
              <a:rPr lang="fr-FR" dirty="0"/>
              <a:t>Qu’est-ce qui va être déplacé avec notre commande ? </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9</a:t>
            </a:fld>
            <a:endParaRPr lang="fr-FR"/>
          </a:p>
        </p:txBody>
      </p:sp>
    </p:spTree>
    <p:extLst>
      <p:ext uri="{BB962C8B-B14F-4D97-AF65-F5344CB8AC3E}">
        <p14:creationId xmlns:p14="http://schemas.microsoft.com/office/powerpoint/2010/main" val="1428069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…ça</a:t>
            </a:r>
          </a:p>
          <a:p>
            <a:r>
              <a:rPr lang="fr-FR" dirty="0"/>
              <a:t>La branche « dada » est remontée jusqu’à la fourche qu’elle avait avec sa base cible, </a:t>
            </a:r>
            <a:r>
              <a:rPr lang="fr-FR" b="1" dirty="0"/>
              <a:t>master</a:t>
            </a:r>
            <a:r>
              <a:rPr lang="fr-FR" dirty="0"/>
              <a:t>.</a:t>
            </a:r>
          </a:p>
          <a:p>
            <a:r>
              <a:rPr lang="fr-FR" dirty="0"/>
              <a:t>Et donc ça veut dire embarquer aussi les </a:t>
            </a:r>
            <a:r>
              <a:rPr lang="fr-FR" dirty="0" err="1"/>
              <a:t>commits</a:t>
            </a:r>
            <a:r>
              <a:rPr lang="fr-FR" dirty="0"/>
              <a:t> A et D.</a:t>
            </a:r>
          </a:p>
          <a:p>
            <a:r>
              <a:rPr lang="fr-FR" dirty="0"/>
              <a:t>A, D et E sont « déplacés » au bout de master.</a:t>
            </a:r>
          </a:p>
          <a:p>
            <a:r>
              <a:rPr lang="fr-FR" dirty="0"/>
              <a:t>Notez qu’on voit ici que A et D n’ont pas été « perdus », car la branche toto pointe toujours dessus.</a:t>
            </a:r>
          </a:p>
          <a:p>
            <a:endParaRPr lang="fr-FR" dirty="0"/>
          </a:p>
          <a:p>
            <a:r>
              <a:rPr lang="fr-FR" dirty="0"/>
              <a:t>Comment déplacer seulement la « sous-branche » dada issue de toto ? </a:t>
            </a:r>
          </a:p>
          <a:p>
            <a:endParaRPr lang="fr-FR" dirty="0"/>
          </a:p>
          <a:p>
            <a:r>
              <a:rPr lang="fr-FR" dirty="0"/>
              <a:t>Il faut utiliser une option de rebase qui s’appelle « -- onto »</a:t>
            </a:r>
          </a:p>
          <a:p>
            <a:r>
              <a:rPr lang="fr-FR" dirty="0"/>
              <a:t>Git rebase toto dada –onto master</a:t>
            </a:r>
          </a:p>
          <a:p>
            <a:endParaRPr lang="fr-FR" dirty="0"/>
          </a:p>
          <a:p>
            <a:r>
              <a:rPr lang="fr-FR" dirty="0"/>
              <a:t>Autrement dit : « rejoue tous les </a:t>
            </a:r>
            <a:r>
              <a:rPr lang="fr-FR" dirty="0" err="1"/>
              <a:t>commits</a:t>
            </a:r>
            <a:r>
              <a:rPr lang="fr-FR" dirty="0"/>
              <a:t> de la branche dada, divergeant de la branche toto, sur la branche master » </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10</a:t>
            </a:fld>
            <a:endParaRPr lang="fr-FR"/>
          </a:p>
        </p:txBody>
      </p:sp>
    </p:spTree>
    <p:extLst>
      <p:ext uri="{BB962C8B-B14F-4D97-AF65-F5344CB8AC3E}">
        <p14:creationId xmlns:p14="http://schemas.microsoft.com/office/powerpoint/2010/main" val="1758339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fois-ci on a bien ce qu’on voulait, c’est-à-dire déplacer la branche dada telle qu’on l’imaginait – partant de la branche toto –  et repartant depuis la branche master.</a:t>
            </a:r>
          </a:p>
          <a:p>
            <a:r>
              <a:rPr lang="fr-FR" dirty="0"/>
              <a:t>On a donc une copie du commit E qui est recréée partant de C.</a:t>
            </a:r>
          </a:p>
          <a:p>
            <a:endParaRPr lang="fr-FR" dirty="0"/>
          </a:p>
          <a:p>
            <a:r>
              <a:rPr lang="fr-FR" dirty="0"/>
              <a:t>Notez bien que C contenant du code différent de D, il y a tout à fait possibilité qu’il y ait des conflits à résoudre avant de finir l’opération de rebase ! </a:t>
            </a:r>
          </a:p>
          <a:p>
            <a:r>
              <a:rPr lang="fr-FR" dirty="0"/>
              <a:t>C’est un problème qui peut arriver à chaque fois qu’on manipule l’historique, bien sûr. Tout autant que quand on fait une fusion normale.</a:t>
            </a:r>
          </a:p>
          <a:p>
            <a:endParaRPr lang="fr-FR" dirty="0"/>
          </a:p>
          <a:p>
            <a:r>
              <a:rPr lang="fr-FR" dirty="0"/>
              <a:t>Autre remarque : on recrée les </a:t>
            </a:r>
            <a:r>
              <a:rPr lang="fr-FR" dirty="0" err="1"/>
              <a:t>commits</a:t>
            </a:r>
            <a:r>
              <a:rPr lang="fr-FR" dirty="0"/>
              <a:t> même s’il n’y a pas de conflits parce que le parent d’un commit </a:t>
            </a:r>
            <a:r>
              <a:rPr lang="fr-FR" i="1" dirty="0"/>
              <a:t>fait partie du commit</a:t>
            </a:r>
            <a:r>
              <a:rPr lang="fr-FR" dirty="0"/>
              <a:t>.</a:t>
            </a:r>
          </a:p>
          <a:p>
            <a:r>
              <a:rPr lang="fr-FR" dirty="0"/>
              <a:t>Donc si on change le parent (ici C au lieu de D), on change le commit, ce qui est interdit.</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11</a:t>
            </a:fld>
            <a:endParaRPr lang="fr-FR"/>
          </a:p>
        </p:txBody>
      </p:sp>
    </p:spTree>
    <p:extLst>
      <p:ext uri="{BB962C8B-B14F-4D97-AF65-F5344CB8AC3E}">
        <p14:creationId xmlns:p14="http://schemas.microsoft.com/office/powerpoint/2010/main" val="879928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Reset : On déplace la tête d’une branche de manière permanente (bien faire la distinction avec </a:t>
            </a:r>
            <a:r>
              <a:rPr lang="fr-FR" dirty="0" err="1"/>
              <a:t>checkout</a:t>
            </a:r>
            <a:r>
              <a:rPr lang="fr-FR" dirty="0"/>
              <a:t>)</a:t>
            </a:r>
          </a:p>
          <a:p>
            <a:r>
              <a:rPr lang="fr-FR" dirty="0"/>
              <a:t>Dans les situations qu’on a vues, c’est surtout pour annuler une opération et revenir en arrière. </a:t>
            </a:r>
          </a:p>
          <a:p>
            <a:endParaRPr lang="fr-FR" dirty="0"/>
          </a:p>
          <a:p>
            <a:r>
              <a:rPr lang="fr-FR" dirty="0" err="1"/>
              <a:t>Checkout</a:t>
            </a:r>
            <a:r>
              <a:rPr lang="fr-FR" dirty="0"/>
              <a:t> : On n'a pas trop parlé de </a:t>
            </a:r>
            <a:r>
              <a:rPr lang="fr-FR" dirty="0" err="1"/>
              <a:t>checkout</a:t>
            </a:r>
            <a:r>
              <a:rPr lang="fr-FR" dirty="0"/>
              <a:t> comme commande, car elle est un peu trop versatile et je craignais que vous vous mélangiez trop les pinceaux.</a:t>
            </a:r>
          </a:p>
          <a:p>
            <a:r>
              <a:rPr lang="fr-FR" dirty="0"/>
              <a:t>On peut utiliser switch à sa place pour basculer de branche, par exemple.</a:t>
            </a:r>
          </a:p>
          <a:p>
            <a:r>
              <a:rPr lang="fr-FR" dirty="0"/>
              <a:t>Mais c’est intéressant de comprendre qu’elle sert à déplacer HEAD (donc le commit où on se trouve actuellement) pour aller voir un commit où qu’il soit.</a:t>
            </a:r>
          </a:p>
          <a:p>
            <a:r>
              <a:rPr lang="fr-FR" dirty="0"/>
              <a:t>C’est pour ça qu’elle permet de basculer de branche, parce que fondamentalement si on déplace HEAD sur un commit qui se trouve dans une autre branche, alors on bascule de branche.</a:t>
            </a:r>
          </a:p>
          <a:p>
            <a:r>
              <a:rPr lang="fr-FR" dirty="0"/>
              <a:t>Mais </a:t>
            </a:r>
            <a:r>
              <a:rPr lang="fr-FR" dirty="0" err="1"/>
              <a:t>checkout</a:t>
            </a:r>
            <a:r>
              <a:rPr lang="fr-FR" dirty="0"/>
              <a:t> permet d’autres choses comme on l’a vu dans la leçon précédente</a:t>
            </a:r>
          </a:p>
          <a:p>
            <a:endParaRPr lang="fr-FR" dirty="0"/>
          </a:p>
          <a:p>
            <a:r>
              <a:rPr lang="fr-FR" dirty="0"/>
              <a:t>Rebase : L’idée principale est de prendre un historique de </a:t>
            </a:r>
            <a:r>
              <a:rPr lang="fr-FR" dirty="0" err="1"/>
              <a:t>commits</a:t>
            </a:r>
            <a:r>
              <a:rPr lang="fr-FR" dirty="0"/>
              <a:t> et de les rejouer depuis un commit différent de celui dont ils ont été effectués à l’origine.</a:t>
            </a:r>
          </a:p>
          <a:p>
            <a:r>
              <a:rPr lang="fr-FR" dirty="0"/>
              <a:t>La syntaxe minimale va donc rejouer les </a:t>
            </a:r>
            <a:r>
              <a:rPr lang="fr-FR" dirty="0" err="1"/>
              <a:t>commits</a:t>
            </a:r>
            <a:r>
              <a:rPr lang="fr-FR" dirty="0"/>
              <a:t> depuis la tête de la branche en amont, parce que quand on utilise un nom de branche, on parle en fait du dernier commit de cette branche, la tête de branche.</a:t>
            </a:r>
          </a:p>
          <a:p>
            <a:r>
              <a:rPr lang="fr-FR" dirty="0"/>
              <a:t>Mais comme on l’a vu, si la branche d’amont et la branche d’où on veut rejouer les </a:t>
            </a:r>
            <a:r>
              <a:rPr lang="fr-FR" dirty="0" err="1"/>
              <a:t>commits</a:t>
            </a:r>
            <a:r>
              <a:rPr lang="fr-FR" dirty="0"/>
              <a:t> sont différents, on doit utiliser la syntaxe --onto pour que git sache bien </a:t>
            </a:r>
            <a:r>
              <a:rPr lang="fr-FR" i="1" dirty="0"/>
              <a:t>quels </a:t>
            </a:r>
            <a:r>
              <a:rPr lang="fr-FR" i="1" dirty="0" err="1"/>
              <a:t>commits</a:t>
            </a:r>
            <a:r>
              <a:rPr lang="fr-FR" dirty="0"/>
              <a:t> déplacer et où les mettre.</a:t>
            </a:r>
          </a:p>
          <a:p>
            <a:r>
              <a:rPr lang="fr-FR" dirty="0"/>
              <a:t>Quand on comprend ces concepts du rebase, on peut alors aussi comprendre que la syntaxe nous permet de faire des choses assez dingues, mais on peut alors se poser la pertinence de telles opérations…</a:t>
            </a:r>
          </a:p>
        </p:txBody>
      </p:sp>
      <p:sp>
        <p:nvSpPr>
          <p:cNvPr id="4" name="Espace réservé du numéro de diapositive 3"/>
          <p:cNvSpPr>
            <a:spLocks noGrp="1"/>
          </p:cNvSpPr>
          <p:nvPr>
            <p:ph type="sldNum" sz="quarter" idx="5"/>
          </p:nvPr>
        </p:nvSpPr>
        <p:spPr/>
        <p:txBody>
          <a:bodyPr/>
          <a:lstStyle/>
          <a:p>
            <a:fld id="{E5771A9F-1700-46FF-B6E9-7591AA9C8781}" type="slidenum">
              <a:rPr lang="fr-FR" smtClean="0"/>
              <a:t>12</a:t>
            </a:fld>
            <a:endParaRPr lang="fr-FR"/>
          </a:p>
        </p:txBody>
      </p:sp>
    </p:spTree>
    <p:extLst>
      <p:ext uri="{BB962C8B-B14F-4D97-AF65-F5344CB8AC3E}">
        <p14:creationId xmlns:p14="http://schemas.microsoft.com/office/powerpoint/2010/main" val="2877262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7940BF-3C30-4CEA-BCF2-3BC84BAE77AC}"/>
              </a:ext>
            </a:extLst>
          </p:cNvPr>
          <p:cNvSpPr>
            <a:spLocks noGrp="1"/>
          </p:cNvSpPr>
          <p:nvPr>
            <p:ph type="ctrTitle"/>
          </p:nvPr>
        </p:nvSpPr>
        <p:spPr>
          <a:xfrm>
            <a:off x="1524000" y="1122363"/>
            <a:ext cx="9144000" cy="2387600"/>
          </a:xfrm>
        </p:spPr>
        <p:txBody>
          <a:bodyPr anchor="b">
            <a:normAutofit/>
          </a:bodyPr>
          <a:lstStyle>
            <a:lvl1pPr algn="ctr">
              <a:defRPr sz="6000">
                <a:latin typeface="Cascadia Code SemiBold" panose="020B0609020000020004" pitchFamily="49" charset="0"/>
                <a:ea typeface="DejaVu Sans Mono" panose="020B0609030804020204" pitchFamily="49" charset="0"/>
                <a:cs typeface="Cascadia Code SemiBold" panose="020B0609020000020004" pitchFamily="49" charset="0"/>
              </a:defRPr>
            </a:lvl1pPr>
          </a:lstStyle>
          <a:p>
            <a:r>
              <a:rPr lang="fr-FR"/>
              <a:t>Modifiez le style du titre</a:t>
            </a:r>
          </a:p>
        </p:txBody>
      </p:sp>
      <p:sp>
        <p:nvSpPr>
          <p:cNvPr id="3" name="Sous-titre 2">
            <a:extLst>
              <a:ext uri="{FF2B5EF4-FFF2-40B4-BE49-F238E27FC236}">
                <a16:creationId xmlns:a16="http://schemas.microsoft.com/office/drawing/2014/main" id="{26A29970-2CD1-4358-9A21-117F4F1EAA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C24B1C7-0016-4A93-8C5D-C13C9CAEAB30}"/>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AE767E80-C297-4FC7-9C5A-10E848A80BB4}"/>
              </a:ext>
            </a:extLst>
          </p:cNvPr>
          <p:cNvSpPr>
            <a:spLocks noGrp="1"/>
          </p:cNvSpPr>
          <p:nvPr>
            <p:ph type="ftr" sz="quarter" idx="11"/>
          </p:nvPr>
        </p:nvSpPr>
        <p:spPr/>
        <p:txBody>
          <a:bodyPr/>
          <a:lstStyle/>
          <a:p>
            <a:r>
              <a:rPr lang="fr-FR" dirty="0"/>
              <a:t>Gestion Avancée des Versions</a:t>
            </a:r>
          </a:p>
        </p:txBody>
      </p:sp>
      <p:sp>
        <p:nvSpPr>
          <p:cNvPr id="6" name="Espace réservé du numéro de diapositive 5">
            <a:extLst>
              <a:ext uri="{FF2B5EF4-FFF2-40B4-BE49-F238E27FC236}">
                <a16:creationId xmlns:a16="http://schemas.microsoft.com/office/drawing/2014/main" id="{79B5E4DE-DCBB-49FD-9523-425A6CEA9D0F}"/>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778365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229E70-C069-4CCB-BDF6-D39E1B019BA9}"/>
              </a:ext>
            </a:extLst>
          </p:cNvPr>
          <p:cNvSpPr>
            <a:spLocks noGrp="1"/>
          </p:cNvSpPr>
          <p:nvPr>
            <p:ph type="title"/>
          </p:nvPr>
        </p:nvSpPr>
        <p:spPr/>
        <p:txBody>
          <a:bodyPr>
            <a:normAutofit/>
          </a:bodyPr>
          <a:lstStyle>
            <a:lvl1pPr>
              <a:defRPr sz="4000">
                <a:latin typeface="Cascadia Code SemiBold" panose="020B0609020000020004" pitchFamily="49" charset="0"/>
                <a:cs typeface="Cascadia Code SemiBold" panose="020B0609020000020004" pitchFamily="49" charset="0"/>
              </a:defRPr>
            </a:lvl1pPr>
          </a:lstStyle>
          <a:p>
            <a:r>
              <a:rPr lang="fr-FR"/>
              <a:t>Modifiez le style du titre</a:t>
            </a:r>
          </a:p>
        </p:txBody>
      </p:sp>
      <p:sp>
        <p:nvSpPr>
          <p:cNvPr id="3" name="Espace réservé du contenu 2">
            <a:extLst>
              <a:ext uri="{FF2B5EF4-FFF2-40B4-BE49-F238E27FC236}">
                <a16:creationId xmlns:a16="http://schemas.microsoft.com/office/drawing/2014/main" id="{928D4395-53B0-43BE-832D-CFCBB175867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6A06E1-8787-4F72-9372-ED5035882BA5}"/>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18C644C1-79D5-440E-A642-768552CBDD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7CE0AD-C58F-45E7-9BF6-02C0A4793EB0}"/>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271067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343ACE-92D1-401C-8217-0D6632C78457}"/>
              </a:ext>
            </a:extLst>
          </p:cNvPr>
          <p:cNvSpPr>
            <a:spLocks noGrp="1"/>
          </p:cNvSpPr>
          <p:nvPr>
            <p:ph type="title"/>
          </p:nvPr>
        </p:nvSpPr>
        <p:spPr>
          <a:xfrm>
            <a:off x="1174376" y="1709738"/>
            <a:ext cx="9843247"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6CCE02F-E8FD-4B42-B463-82AE116E4309}"/>
              </a:ext>
            </a:extLst>
          </p:cNvPr>
          <p:cNvSpPr>
            <a:spLocks noGrp="1"/>
          </p:cNvSpPr>
          <p:nvPr>
            <p:ph type="body" idx="1"/>
          </p:nvPr>
        </p:nvSpPr>
        <p:spPr>
          <a:xfrm>
            <a:off x="1174374" y="4589463"/>
            <a:ext cx="9843249"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4B9E34E-B0DD-4E31-8F19-4298EFB7BEFA}"/>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F336F1B8-2850-4F55-94D8-27F9A58D4FF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E2F82D0-7465-490D-BD23-BF258ADC21AE}"/>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4090606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7BB54-74A3-4D52-9838-135D8D618B2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98A6019-79D2-48A3-B4D3-487206A9775F}"/>
              </a:ext>
            </a:extLst>
          </p:cNvPr>
          <p:cNvSpPr>
            <a:spLocks noGrp="1"/>
          </p:cNvSpPr>
          <p:nvPr>
            <p:ph sz="half" idx="1"/>
          </p:nvPr>
        </p:nvSpPr>
        <p:spPr>
          <a:xfrm>
            <a:off x="1174376" y="1825625"/>
            <a:ext cx="4845424"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B8BB14B-1DFA-4F86-BB07-4D8E8082178F}"/>
              </a:ext>
            </a:extLst>
          </p:cNvPr>
          <p:cNvSpPr>
            <a:spLocks noGrp="1"/>
          </p:cNvSpPr>
          <p:nvPr>
            <p:ph sz="half" idx="2"/>
          </p:nvPr>
        </p:nvSpPr>
        <p:spPr>
          <a:xfrm>
            <a:off x="6172200" y="1825625"/>
            <a:ext cx="4845423"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F6DDF4C-B7B6-4ECB-BAB5-DE240C7F15A1}"/>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6" name="Espace réservé du pied de page 5">
            <a:extLst>
              <a:ext uri="{FF2B5EF4-FFF2-40B4-BE49-F238E27FC236}">
                <a16:creationId xmlns:a16="http://schemas.microsoft.com/office/drawing/2014/main" id="{BA03BDE0-2F2C-42D0-8D7F-5F2C4EAF53D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0CF0280-A762-4359-82C0-23B2C82205AF}"/>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2968365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FE919E-28EB-4E55-9D3D-21E247795DE0}"/>
              </a:ext>
            </a:extLst>
          </p:cNvPr>
          <p:cNvSpPr>
            <a:spLocks noGrp="1"/>
          </p:cNvSpPr>
          <p:nvPr>
            <p:ph type="title"/>
          </p:nvPr>
        </p:nvSpPr>
        <p:spPr>
          <a:xfrm>
            <a:off x="1174376" y="365125"/>
            <a:ext cx="9843247"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E3286F-BB4F-44B9-AD21-E88F3050F959}"/>
              </a:ext>
            </a:extLst>
          </p:cNvPr>
          <p:cNvSpPr>
            <a:spLocks noGrp="1"/>
          </p:cNvSpPr>
          <p:nvPr>
            <p:ph type="body" idx="1"/>
          </p:nvPr>
        </p:nvSpPr>
        <p:spPr>
          <a:xfrm>
            <a:off x="1174375" y="1681163"/>
            <a:ext cx="492162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9896D98C-1EF9-4A16-B1E7-50AA921A1607}"/>
              </a:ext>
            </a:extLst>
          </p:cNvPr>
          <p:cNvSpPr>
            <a:spLocks noGrp="1"/>
          </p:cNvSpPr>
          <p:nvPr>
            <p:ph sz="half" idx="2"/>
          </p:nvPr>
        </p:nvSpPr>
        <p:spPr>
          <a:xfrm>
            <a:off x="1174376" y="2505075"/>
            <a:ext cx="492162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5DC8C29-9C6B-44FE-8ACC-9260A0C33836}"/>
              </a:ext>
            </a:extLst>
          </p:cNvPr>
          <p:cNvSpPr>
            <a:spLocks noGrp="1"/>
          </p:cNvSpPr>
          <p:nvPr>
            <p:ph type="body" sz="quarter" idx="3"/>
          </p:nvPr>
        </p:nvSpPr>
        <p:spPr>
          <a:xfrm>
            <a:off x="6096000" y="1681163"/>
            <a:ext cx="492162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79B3EA2-76F7-4872-837A-8896858F278B}"/>
              </a:ext>
            </a:extLst>
          </p:cNvPr>
          <p:cNvSpPr>
            <a:spLocks noGrp="1"/>
          </p:cNvSpPr>
          <p:nvPr>
            <p:ph sz="quarter" idx="4"/>
          </p:nvPr>
        </p:nvSpPr>
        <p:spPr>
          <a:xfrm>
            <a:off x="6095998" y="2505075"/>
            <a:ext cx="4921625" cy="368458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e la date 6">
            <a:extLst>
              <a:ext uri="{FF2B5EF4-FFF2-40B4-BE49-F238E27FC236}">
                <a16:creationId xmlns:a16="http://schemas.microsoft.com/office/drawing/2014/main" id="{FFBEF25A-C734-464E-A222-5FA5DD7E8A13}"/>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8" name="Espace réservé du pied de page 7">
            <a:extLst>
              <a:ext uri="{FF2B5EF4-FFF2-40B4-BE49-F238E27FC236}">
                <a16:creationId xmlns:a16="http://schemas.microsoft.com/office/drawing/2014/main" id="{04809B12-0F3E-4147-ADC8-D1FCCE7E720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369387E-D9A7-4DC2-BBCC-1FBF894677EF}"/>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009055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D3F8CE-315A-4523-8FDF-486D49020C8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1AAA36C-1AD9-47C0-8CEB-DBE9768CC762}"/>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4" name="Espace réservé du pied de page 3">
            <a:extLst>
              <a:ext uri="{FF2B5EF4-FFF2-40B4-BE49-F238E27FC236}">
                <a16:creationId xmlns:a16="http://schemas.microsoft.com/office/drawing/2014/main" id="{83BD1FBB-A7F9-41F1-8757-1E209553E5C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D27496C-4711-44D6-AC12-F11B04C6D9EC}"/>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171594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919EB38-630F-459F-B68D-38C7CF74C0EE}"/>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3" name="Espace réservé du pied de page 2">
            <a:extLst>
              <a:ext uri="{FF2B5EF4-FFF2-40B4-BE49-F238E27FC236}">
                <a16:creationId xmlns:a16="http://schemas.microsoft.com/office/drawing/2014/main" id="{95E3696F-2221-4B5E-86EB-1AD3267CDC6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D0F91A2-2E78-4031-986C-91D52B79FA54}"/>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06028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2C3740-84DC-4517-813D-3992A06E0B5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07A1E60-66B0-4128-A7A0-48C5A9DD7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BC3BCB4-F1BB-458D-9CCE-63BCCFB885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8F6E28-3CEA-4B55-BD42-445EE7EDD53E}"/>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6" name="Espace réservé du pied de page 5">
            <a:extLst>
              <a:ext uri="{FF2B5EF4-FFF2-40B4-BE49-F238E27FC236}">
                <a16:creationId xmlns:a16="http://schemas.microsoft.com/office/drawing/2014/main" id="{FCFA584B-DB09-4E14-8569-97941132A53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C23D3DB-588F-4A06-B9CE-82A045DD696B}"/>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572230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DA6E4B-A71A-48C5-BC20-0325B569C10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511D24-C6BB-4154-AE0B-ADE9C92CE5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297D27E-62D6-4D0C-A344-60864F875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F11795F-69D3-4049-A100-C58416F16BD9}"/>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6" name="Espace réservé du pied de page 5">
            <a:extLst>
              <a:ext uri="{FF2B5EF4-FFF2-40B4-BE49-F238E27FC236}">
                <a16:creationId xmlns:a16="http://schemas.microsoft.com/office/drawing/2014/main" id="{8FB778F6-9F4E-490C-A9FA-779D65B2A4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6832E3F-E146-4147-81B7-08DFCAB60296}"/>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41514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421AF0-0540-42C5-8E0A-C43594C821E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36B7C01-F0E7-4594-BB49-49732A548C1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7A4E481-3DA5-4F2D-929A-68867CDDB257}"/>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85656DF1-3D33-4DD7-9454-E372CE40C0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EAA4C47-7FFE-48E6-842B-AEFBDF5FFA6E}"/>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45664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915AF5A-4847-4FE3-A19E-01C85A7C47A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994C12B-D043-45BF-A389-10240C3E6F0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2E1B3B-FED1-4DB1-9EA9-5D1A2CCC731C}"/>
              </a:ext>
            </a:extLst>
          </p:cNvPr>
          <p:cNvSpPr>
            <a:spLocks noGrp="1"/>
          </p:cNvSpPr>
          <p:nvPr>
            <p:ph type="dt" sz="half" idx="10"/>
          </p:nvPr>
        </p:nvSpPr>
        <p:spPr/>
        <p:txBody>
          <a:bodyPr/>
          <a:lstStyle/>
          <a:p>
            <a:fld id="{A51DD7F7-1ABA-4C94-899D-E4FA0F52F914}"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17D14108-9D84-466B-A1DE-8AEDB1CE7C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C39AB8-5C5B-4119-8431-884577E93E14}"/>
              </a:ext>
            </a:extLst>
          </p:cNvPr>
          <p:cNvSpPr>
            <a:spLocks noGrp="1"/>
          </p:cNvSpPr>
          <p:nvPr>
            <p:ph type="sldNum" sz="quarter" idx="12"/>
          </p:nvPr>
        </p:nvSpPr>
        <p:spPr/>
        <p:txBody>
          <a:bodyPr/>
          <a:lstStyle/>
          <a:p>
            <a:fld id="{B296B781-FF34-4AA8-93DB-70DF7A11777C}" type="slidenum">
              <a:rPr lang="fr-FR" smtClean="0"/>
              <a:t>‹#›</a:t>
            </a:fld>
            <a:endParaRPr lang="fr-FR"/>
          </a:p>
        </p:txBody>
      </p:sp>
    </p:spTree>
    <p:extLst>
      <p:ext uri="{BB962C8B-B14F-4D97-AF65-F5344CB8AC3E}">
        <p14:creationId xmlns:p14="http://schemas.microsoft.com/office/powerpoint/2010/main" val="12100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6E3"/>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1D6DF1B-829C-40E1-AD9A-D2484F81083C}"/>
              </a:ext>
            </a:extLst>
          </p:cNvPr>
          <p:cNvPicPr>
            <a:picLocks noChangeAspect="1"/>
          </p:cNvPicPr>
          <p:nvPr userDrawn="1"/>
        </p:nvPicPr>
        <p:blipFill>
          <a:blip r:embed="rId13"/>
          <a:stretch>
            <a:fillRect/>
          </a:stretch>
        </p:blipFill>
        <p:spPr>
          <a:xfrm flipH="1">
            <a:off x="11017623" y="0"/>
            <a:ext cx="1174376" cy="6858000"/>
          </a:xfrm>
          <a:prstGeom prst="rect">
            <a:avLst/>
          </a:prstGeom>
        </p:spPr>
      </p:pic>
      <p:pic>
        <p:nvPicPr>
          <p:cNvPr id="8" name="Image 7">
            <a:extLst>
              <a:ext uri="{FF2B5EF4-FFF2-40B4-BE49-F238E27FC236}">
                <a16:creationId xmlns:a16="http://schemas.microsoft.com/office/drawing/2014/main" id="{C659C29F-BD1F-4CBD-B209-C6E8A8B6CDB9}"/>
              </a:ext>
            </a:extLst>
          </p:cNvPr>
          <p:cNvPicPr>
            <a:picLocks noChangeAspect="1"/>
          </p:cNvPicPr>
          <p:nvPr userDrawn="1"/>
        </p:nvPicPr>
        <p:blipFill>
          <a:blip r:embed="rId14"/>
          <a:stretch>
            <a:fillRect/>
          </a:stretch>
        </p:blipFill>
        <p:spPr>
          <a:xfrm>
            <a:off x="0" y="6537"/>
            <a:ext cx="1174376" cy="6851463"/>
          </a:xfrm>
          <a:prstGeom prst="rect">
            <a:avLst/>
          </a:prstGeom>
        </p:spPr>
      </p:pic>
      <p:sp>
        <p:nvSpPr>
          <p:cNvPr id="2" name="Espace réservé du titre 1">
            <a:extLst>
              <a:ext uri="{FF2B5EF4-FFF2-40B4-BE49-F238E27FC236}">
                <a16:creationId xmlns:a16="http://schemas.microsoft.com/office/drawing/2014/main" id="{C4627AA6-10EE-476A-BB3C-9A51F76305A0}"/>
              </a:ext>
            </a:extLst>
          </p:cNvPr>
          <p:cNvSpPr>
            <a:spLocks noGrp="1"/>
          </p:cNvSpPr>
          <p:nvPr>
            <p:ph type="title"/>
          </p:nvPr>
        </p:nvSpPr>
        <p:spPr>
          <a:xfrm>
            <a:off x="1174376" y="365125"/>
            <a:ext cx="9843247"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5348FEE-B9FD-4570-906E-2561E2ACEC04}"/>
              </a:ext>
            </a:extLst>
          </p:cNvPr>
          <p:cNvSpPr>
            <a:spLocks noGrp="1"/>
          </p:cNvSpPr>
          <p:nvPr>
            <p:ph type="body" idx="1"/>
          </p:nvPr>
        </p:nvSpPr>
        <p:spPr>
          <a:xfrm>
            <a:off x="1174376" y="1825625"/>
            <a:ext cx="9843247"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6F472C1-00D0-4DDA-94DF-BA4E8F5F93EA}"/>
              </a:ext>
            </a:extLst>
          </p:cNvPr>
          <p:cNvSpPr>
            <a:spLocks noGrp="1"/>
          </p:cNvSpPr>
          <p:nvPr>
            <p:ph type="dt" sz="half" idx="2"/>
          </p:nvPr>
        </p:nvSpPr>
        <p:spPr>
          <a:xfrm>
            <a:off x="1174376" y="6356350"/>
            <a:ext cx="240702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1DD7F7-1ABA-4C94-899D-E4FA0F52F914}" type="datetimeFigureOut">
              <a:rPr lang="fr-FR" smtClean="0"/>
              <a:t>07/12/2025</a:t>
            </a:fld>
            <a:endParaRPr lang="fr-FR"/>
          </a:p>
        </p:txBody>
      </p:sp>
      <p:sp>
        <p:nvSpPr>
          <p:cNvPr id="5" name="Espace réservé du pied de page 4">
            <a:extLst>
              <a:ext uri="{FF2B5EF4-FFF2-40B4-BE49-F238E27FC236}">
                <a16:creationId xmlns:a16="http://schemas.microsoft.com/office/drawing/2014/main" id="{5C7A8601-419D-4D8E-AC1C-B26AC9D167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12AAAA7-B2D8-4506-8566-8FCBE405B7BE}"/>
              </a:ext>
            </a:extLst>
          </p:cNvPr>
          <p:cNvSpPr>
            <a:spLocks noGrp="1"/>
          </p:cNvSpPr>
          <p:nvPr>
            <p:ph type="sldNum" sz="quarter" idx="4"/>
          </p:nvPr>
        </p:nvSpPr>
        <p:spPr>
          <a:xfrm>
            <a:off x="8610600" y="6356350"/>
            <a:ext cx="240702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96B781-FF34-4AA8-93DB-70DF7A11777C}" type="slidenum">
              <a:rPr lang="fr-FR" smtClean="0"/>
              <a:t>‹#›</a:t>
            </a:fld>
            <a:endParaRPr lang="fr-FR" dirty="0"/>
          </a:p>
        </p:txBody>
      </p:sp>
    </p:spTree>
    <p:extLst>
      <p:ext uri="{BB962C8B-B14F-4D97-AF65-F5344CB8AC3E}">
        <p14:creationId xmlns:p14="http://schemas.microsoft.com/office/powerpoint/2010/main" val="2699705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98FA16-00F3-49D3-A06A-71228544062E}"/>
              </a:ext>
            </a:extLst>
          </p:cNvPr>
          <p:cNvSpPr>
            <a:spLocks noGrp="1"/>
          </p:cNvSpPr>
          <p:nvPr>
            <p:ph type="ctrTitle"/>
          </p:nvPr>
        </p:nvSpPr>
        <p:spPr/>
        <p:txBody>
          <a:bodyPr>
            <a:normAutofit fontScale="90000"/>
          </a:bodyPr>
          <a:lstStyle/>
          <a:p>
            <a:r>
              <a:rPr lang="fr-FR" dirty="0"/>
              <a:t>Git 201</a:t>
            </a:r>
            <a:br>
              <a:rPr lang="fr-FR" dirty="0"/>
            </a:br>
            <a:r>
              <a:rPr lang="fr-FR"/>
              <a:t>Advanced Source Version </a:t>
            </a:r>
            <a:r>
              <a:rPr lang="fr-FR" dirty="0"/>
              <a:t>Control</a:t>
            </a:r>
          </a:p>
        </p:txBody>
      </p:sp>
      <p:sp>
        <p:nvSpPr>
          <p:cNvPr id="3" name="Sous-titre 2">
            <a:extLst>
              <a:ext uri="{FF2B5EF4-FFF2-40B4-BE49-F238E27FC236}">
                <a16:creationId xmlns:a16="http://schemas.microsoft.com/office/drawing/2014/main" id="{8828877E-FD61-40D1-8769-3C8FF3E7ECA4}"/>
              </a:ext>
            </a:extLst>
          </p:cNvPr>
          <p:cNvSpPr>
            <a:spLocks noGrp="1"/>
          </p:cNvSpPr>
          <p:nvPr>
            <p:ph type="subTitle" idx="1"/>
          </p:nvPr>
        </p:nvSpPr>
        <p:spPr/>
        <p:txBody>
          <a:bodyPr/>
          <a:lstStyle/>
          <a:p>
            <a:r>
              <a:rPr lang="fr-FR" dirty="0" err="1"/>
              <a:t>Solving</a:t>
            </a:r>
            <a:r>
              <a:rPr lang="fr-FR" dirty="0"/>
              <a:t> and </a:t>
            </a:r>
            <a:r>
              <a:rPr lang="fr-FR" dirty="0" err="1"/>
              <a:t>preventing</a:t>
            </a:r>
            <a:r>
              <a:rPr lang="fr-FR" dirty="0"/>
              <a:t> </a:t>
            </a:r>
            <a:r>
              <a:rPr lang="fr-FR" dirty="0" err="1"/>
              <a:t>common</a:t>
            </a:r>
            <a:r>
              <a:rPr lang="fr-FR" dirty="0"/>
              <a:t> </a:t>
            </a:r>
            <a:r>
              <a:rPr lang="fr-FR" dirty="0" err="1"/>
              <a:t>problems</a:t>
            </a:r>
            <a:r>
              <a:rPr lang="fr-FR" dirty="0"/>
              <a:t> </a:t>
            </a:r>
            <a:r>
              <a:rPr lang="fr-FR" dirty="0" err="1"/>
              <a:t>with</a:t>
            </a:r>
            <a:r>
              <a:rPr lang="fr-FR" dirty="0"/>
              <a:t> git </a:t>
            </a:r>
          </a:p>
        </p:txBody>
      </p:sp>
    </p:spTree>
    <p:extLst>
      <p:ext uri="{BB962C8B-B14F-4D97-AF65-F5344CB8AC3E}">
        <p14:creationId xmlns:p14="http://schemas.microsoft.com/office/powerpoint/2010/main" val="3204465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005AAD2-CBDC-45C4-85BF-460F08F0E6C5}"/>
              </a:ext>
            </a:extLst>
          </p:cNvPr>
          <p:cNvSpPr>
            <a:spLocks noGrp="1"/>
          </p:cNvSpPr>
          <p:nvPr>
            <p:ph type="title"/>
          </p:nvPr>
        </p:nvSpPr>
        <p:spPr/>
        <p:txBody>
          <a:bodyPr/>
          <a:lstStyle/>
          <a:p>
            <a:r>
              <a:rPr lang="fr-FR" dirty="0"/>
              <a:t>Corriger un commit</a:t>
            </a:r>
          </a:p>
        </p:txBody>
      </p:sp>
      <p:pic>
        <p:nvPicPr>
          <p:cNvPr id="1026" name="Picture 2">
            <a:extLst>
              <a:ext uri="{FF2B5EF4-FFF2-40B4-BE49-F238E27FC236}">
                <a16:creationId xmlns:a16="http://schemas.microsoft.com/office/drawing/2014/main" id="{5D29C77C-5699-410A-A295-9A0ADBD4AE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128" y="1690688"/>
            <a:ext cx="5662597" cy="17841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3D0C12B-9163-4FB0-964A-00EF102F8D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8153" y="4800357"/>
            <a:ext cx="9235692" cy="5227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0242C85-DB14-4C20-BC02-E6D03436E9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5128" y="1690688"/>
            <a:ext cx="5662597" cy="2947653"/>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C41E0992-C52A-4648-8EDD-E2EE53DBD723}"/>
              </a:ext>
            </a:extLst>
          </p:cNvPr>
          <p:cNvSpPr txBox="1"/>
          <p:nvPr/>
        </p:nvSpPr>
        <p:spPr>
          <a:xfrm>
            <a:off x="1837462" y="5733071"/>
            <a:ext cx="8517075" cy="461665"/>
          </a:xfrm>
          <a:prstGeom prst="rect">
            <a:avLst/>
          </a:prstGeom>
          <a:noFill/>
        </p:spPr>
        <p:txBody>
          <a:bodyPr wrap="none" rtlCol="0">
            <a:spAutoFit/>
          </a:bodyPr>
          <a:lstStyle/>
          <a:p>
            <a:r>
              <a:rPr lang="fr-FR" sz="2400" dirty="0">
                <a:latin typeface="Cascadia Code SemiBold" panose="020B0609020000020004" pitchFamily="49" charset="0"/>
                <a:cs typeface="Cascadia Code SemiBold" panose="020B0609020000020004" pitchFamily="49" charset="0"/>
              </a:rPr>
              <a:t>Git ne modifie JAMAIS un commit une fois créé.</a:t>
            </a:r>
          </a:p>
        </p:txBody>
      </p:sp>
    </p:spTree>
    <p:extLst>
      <p:ext uri="{BB962C8B-B14F-4D97-AF65-F5344CB8AC3E}">
        <p14:creationId xmlns:p14="http://schemas.microsoft.com/office/powerpoint/2010/main" val="76454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0"/>
                                        </p:tgtEl>
                                        <p:attrNameLst>
                                          <p:attrName>style.visibility</p:attrName>
                                        </p:attrNameLst>
                                      </p:cBhvr>
                                      <p:to>
                                        <p:strVal val="visible"/>
                                      </p:to>
                                    </p:set>
                                    <p:anim calcmode="lin" valueType="num">
                                      <p:cBhvr additive="base">
                                        <p:cTn id="13" dur="500" fill="hold"/>
                                        <p:tgtEl>
                                          <p:spTgt spid="1030"/>
                                        </p:tgtEl>
                                        <p:attrNameLst>
                                          <p:attrName>ppt_x</p:attrName>
                                        </p:attrNameLst>
                                      </p:cBhvr>
                                      <p:tavLst>
                                        <p:tav tm="0">
                                          <p:val>
                                            <p:strVal val="#ppt_x"/>
                                          </p:val>
                                        </p:tav>
                                        <p:tav tm="100000">
                                          <p:val>
                                            <p:strVal val="#ppt_x"/>
                                          </p:val>
                                        </p:tav>
                                      </p:tavLst>
                                    </p:anim>
                                    <p:anim calcmode="lin" valueType="num">
                                      <p:cBhvr additive="base">
                                        <p:cTn id="14" dur="500" fill="hold"/>
                                        <p:tgtEl>
                                          <p:spTgt spid="10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64C8DC-BB44-4B8A-821A-2A25A87E9701}"/>
              </a:ext>
            </a:extLst>
          </p:cNvPr>
          <p:cNvSpPr>
            <a:spLocks noGrp="1"/>
          </p:cNvSpPr>
          <p:nvPr>
            <p:ph type="title"/>
          </p:nvPr>
        </p:nvSpPr>
        <p:spPr/>
        <p:txBody>
          <a:bodyPr/>
          <a:lstStyle/>
          <a:p>
            <a:r>
              <a:rPr lang="fr-FR" dirty="0"/>
              <a:t>log vs </a:t>
            </a:r>
            <a:r>
              <a:rPr lang="fr-FR" dirty="0" err="1"/>
              <a:t>reflog</a:t>
            </a:r>
            <a:endParaRPr lang="fr-FR" dirty="0"/>
          </a:p>
        </p:txBody>
      </p:sp>
      <p:pic>
        <p:nvPicPr>
          <p:cNvPr id="7" name="Image 6">
            <a:extLst>
              <a:ext uri="{FF2B5EF4-FFF2-40B4-BE49-F238E27FC236}">
                <a16:creationId xmlns:a16="http://schemas.microsoft.com/office/drawing/2014/main" id="{43258BEA-AAF1-4E69-8FE3-B203387D87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9754" y="1303863"/>
            <a:ext cx="4145758" cy="5571722"/>
          </a:xfrm>
          <a:prstGeom prst="rect">
            <a:avLst/>
          </a:prstGeom>
        </p:spPr>
      </p:pic>
      <p:pic>
        <p:nvPicPr>
          <p:cNvPr id="9" name="Image 8">
            <a:extLst>
              <a:ext uri="{FF2B5EF4-FFF2-40B4-BE49-F238E27FC236}">
                <a16:creationId xmlns:a16="http://schemas.microsoft.com/office/drawing/2014/main" id="{72DF153E-1A0D-458B-BC87-D520F98D67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252" y="2768983"/>
            <a:ext cx="5270391" cy="2464622"/>
          </a:xfrm>
          <a:prstGeom prst="rect">
            <a:avLst/>
          </a:prstGeom>
        </p:spPr>
      </p:pic>
    </p:spTree>
    <p:extLst>
      <p:ext uri="{BB962C8B-B14F-4D97-AF65-F5344CB8AC3E}">
        <p14:creationId xmlns:p14="http://schemas.microsoft.com/office/powerpoint/2010/main" val="4044967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E73284-E02A-43E5-AE41-DC4137EFE64B}"/>
              </a:ext>
            </a:extLst>
          </p:cNvPr>
          <p:cNvSpPr>
            <a:spLocks noGrp="1"/>
          </p:cNvSpPr>
          <p:nvPr>
            <p:ph type="title"/>
          </p:nvPr>
        </p:nvSpPr>
        <p:spPr/>
        <p:txBody>
          <a:bodyPr/>
          <a:lstStyle/>
          <a:p>
            <a:r>
              <a:rPr lang="fr-FR" dirty="0"/>
              <a:t>Voyager dans le temps</a:t>
            </a:r>
          </a:p>
        </p:txBody>
      </p:sp>
      <p:pic>
        <p:nvPicPr>
          <p:cNvPr id="2052" name="Picture 4">
            <a:extLst>
              <a:ext uri="{FF2B5EF4-FFF2-40B4-BE49-F238E27FC236}">
                <a16:creationId xmlns:a16="http://schemas.microsoft.com/office/drawing/2014/main" id="{665A2DDA-4CF3-4194-894D-121C47CB8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2065" y="1690688"/>
            <a:ext cx="7450022" cy="336781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D0BD2C0E-AA65-4BEE-B83C-BD4BDC56829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835" r="25774"/>
          <a:stretch/>
        </p:blipFill>
        <p:spPr bwMode="auto">
          <a:xfrm>
            <a:off x="2063261" y="5351584"/>
            <a:ext cx="7666892" cy="89681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CA6074-987C-4BD8-9D81-09FD30E642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1904788" y="1677987"/>
            <a:ext cx="7450022" cy="338637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9F3CF5C8-117E-4B9A-9502-3A35CA3B855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560" r="22389"/>
          <a:stretch/>
        </p:blipFill>
        <p:spPr bwMode="auto">
          <a:xfrm>
            <a:off x="1902065" y="5351585"/>
            <a:ext cx="8721970" cy="896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83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52"/>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20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056"/>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008B7E-2200-40AC-AEF8-C74CD3D9DB9A}"/>
              </a:ext>
            </a:extLst>
          </p:cNvPr>
          <p:cNvSpPr>
            <a:spLocks noGrp="1"/>
          </p:cNvSpPr>
          <p:nvPr>
            <p:ph type="title"/>
          </p:nvPr>
        </p:nvSpPr>
        <p:spPr/>
        <p:txBody>
          <a:bodyPr/>
          <a:lstStyle/>
          <a:p>
            <a:r>
              <a:rPr lang="fr-FR" dirty="0"/>
              <a:t>.</a:t>
            </a:r>
            <a:r>
              <a:rPr lang="fr-FR" dirty="0" err="1"/>
              <a:t>gitignore</a:t>
            </a:r>
            <a:r>
              <a:rPr lang="fr-FR" dirty="0"/>
              <a:t> patterns</a:t>
            </a:r>
          </a:p>
        </p:txBody>
      </p:sp>
      <p:sp>
        <p:nvSpPr>
          <p:cNvPr id="3" name="Espace réservé du contenu 2">
            <a:extLst>
              <a:ext uri="{FF2B5EF4-FFF2-40B4-BE49-F238E27FC236}">
                <a16:creationId xmlns:a16="http://schemas.microsoft.com/office/drawing/2014/main" id="{16DA6071-1E67-4360-9EA6-9116E639A70B}"/>
              </a:ext>
            </a:extLst>
          </p:cNvPr>
          <p:cNvSpPr>
            <a:spLocks noGrp="1"/>
          </p:cNvSpPr>
          <p:nvPr>
            <p:ph idx="1"/>
          </p:nvPr>
        </p:nvSpPr>
        <p:spPr/>
        <p:txBody>
          <a:bodyPr>
            <a:normAutofit/>
          </a:bodyPr>
          <a:lstStyle/>
          <a:p>
            <a:r>
              <a:rPr lang="fr-FR" dirty="0" err="1"/>
              <a:t>a?b</a:t>
            </a:r>
            <a:r>
              <a:rPr lang="fr-FR" dirty="0"/>
              <a:t> : </a:t>
            </a:r>
            <a:r>
              <a:rPr lang="fr-FR" dirty="0" err="1"/>
              <a:t>abb</a:t>
            </a:r>
            <a:r>
              <a:rPr lang="fr-FR" dirty="0"/>
              <a:t> a3b </a:t>
            </a:r>
            <a:r>
              <a:rPr lang="fr-FR" strike="sngStrike" dirty="0" err="1"/>
              <a:t>adsdb</a:t>
            </a:r>
            <a:r>
              <a:rPr lang="fr-FR" dirty="0"/>
              <a:t> </a:t>
            </a:r>
            <a:r>
              <a:rPr lang="fr-FR" strike="sngStrike" dirty="0"/>
              <a:t>a/b</a:t>
            </a:r>
            <a:r>
              <a:rPr lang="fr-FR" dirty="0"/>
              <a:t> </a:t>
            </a:r>
            <a:r>
              <a:rPr lang="fr-FR" strike="sngStrike" dirty="0"/>
              <a:t>ab</a:t>
            </a:r>
          </a:p>
          <a:p>
            <a:r>
              <a:rPr lang="fr-FR" dirty="0"/>
              <a:t>a*b : ab </a:t>
            </a:r>
            <a:r>
              <a:rPr lang="fr-FR" dirty="0" err="1"/>
              <a:t>ajhfksjhdfsb</a:t>
            </a:r>
            <a:r>
              <a:rPr lang="fr-FR" dirty="0"/>
              <a:t> /test/ab </a:t>
            </a:r>
            <a:r>
              <a:rPr lang="fr-FR" strike="sngStrike" dirty="0"/>
              <a:t>a/b</a:t>
            </a:r>
            <a:r>
              <a:rPr lang="fr-FR" dirty="0"/>
              <a:t> </a:t>
            </a:r>
          </a:p>
          <a:p>
            <a:r>
              <a:rPr lang="fr-FR" dirty="0"/>
              <a:t>ab[0-9] : ab0 ab3 </a:t>
            </a:r>
            <a:r>
              <a:rPr lang="fr-FR" strike="sngStrike" dirty="0"/>
              <a:t>ab99</a:t>
            </a:r>
            <a:r>
              <a:rPr lang="fr-FR" dirty="0"/>
              <a:t> </a:t>
            </a:r>
            <a:r>
              <a:rPr lang="fr-FR" strike="sngStrike" dirty="0"/>
              <a:t>abc</a:t>
            </a:r>
          </a:p>
          <a:p>
            <a:r>
              <a:rPr lang="fr-FR" dirty="0"/>
              <a:t>a**b : </a:t>
            </a:r>
            <a:r>
              <a:rPr lang="fr-FR" dirty="0" err="1"/>
              <a:t>akjhb</a:t>
            </a:r>
            <a:r>
              <a:rPr lang="fr-FR" dirty="0"/>
              <a:t> a/b a/test/b ab</a:t>
            </a:r>
          </a:p>
          <a:p>
            <a:r>
              <a:rPr lang="fr-FR" dirty="0"/>
              <a:t>!ab </a:t>
            </a:r>
            <a:r>
              <a:rPr lang="fr-FR" strike="sngStrike" dirty="0" err="1"/>
              <a:t>ab</a:t>
            </a:r>
            <a:r>
              <a:rPr lang="fr-FR" dirty="0"/>
              <a:t> </a:t>
            </a:r>
          </a:p>
          <a:p>
            <a:r>
              <a:rPr lang="fr-FR" dirty="0"/>
              <a:t>On peut avoir plusieurs fichiers .</a:t>
            </a:r>
            <a:r>
              <a:rPr lang="fr-FR" dirty="0" err="1"/>
              <a:t>gitignore</a:t>
            </a:r>
            <a:r>
              <a:rPr lang="fr-FR" dirty="0"/>
              <a:t> !</a:t>
            </a:r>
            <a:br>
              <a:rPr lang="fr-FR" dirty="0"/>
            </a:br>
            <a:r>
              <a:rPr lang="fr-FR" dirty="0"/>
              <a:t>Mais c’est le bazar à gérer. À éviter.</a:t>
            </a:r>
          </a:p>
          <a:p>
            <a:r>
              <a:rPr lang="fr-FR" dirty="0"/>
              <a:t>Faire du spécifique ! Meilleurs performances et moins de risque d’erreurs.</a:t>
            </a:r>
          </a:p>
        </p:txBody>
      </p:sp>
    </p:spTree>
    <p:extLst>
      <p:ext uri="{BB962C8B-B14F-4D97-AF65-F5344CB8AC3E}">
        <p14:creationId xmlns:p14="http://schemas.microsoft.com/office/powerpoint/2010/main" val="2386319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EDAFBE06-0DAC-42BE-9E79-164038DAA3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2740" y="1690688"/>
            <a:ext cx="6825783" cy="3222109"/>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06DB4208-F5E2-416D-B594-E3BBFED395DD}"/>
              </a:ext>
            </a:extLst>
          </p:cNvPr>
          <p:cNvSpPr>
            <a:spLocks noGrp="1"/>
          </p:cNvSpPr>
          <p:nvPr>
            <p:ph type="title"/>
          </p:nvPr>
        </p:nvSpPr>
        <p:spPr/>
        <p:txBody>
          <a:bodyPr/>
          <a:lstStyle/>
          <a:p>
            <a:r>
              <a:rPr lang="fr-FR" dirty="0"/>
              <a:t>Travailler avec les branches</a:t>
            </a:r>
          </a:p>
        </p:txBody>
      </p:sp>
      <p:pic>
        <p:nvPicPr>
          <p:cNvPr id="3074" name="Picture 2">
            <a:extLst>
              <a:ext uri="{FF2B5EF4-FFF2-40B4-BE49-F238E27FC236}">
                <a16:creationId xmlns:a16="http://schemas.microsoft.com/office/drawing/2014/main" id="{AF4049DB-7199-4A7B-A294-E2F87DE7A1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2740" y="1690688"/>
            <a:ext cx="4723260" cy="195738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2D0A0B71-599A-484E-80C5-D6DA4EDA76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5307" y="3289301"/>
            <a:ext cx="1941993" cy="103874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1B9BBB3F-8D15-47EB-BC94-D334DA951E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667" y="5167312"/>
            <a:ext cx="9982665" cy="90751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CD3F95D5-5488-48C9-B7C1-E30562244975}"/>
              </a:ext>
            </a:extLst>
          </p:cNvPr>
          <p:cNvPicPr>
            <a:picLocks noChangeAspect="1"/>
          </p:cNvPicPr>
          <p:nvPr/>
        </p:nvPicPr>
        <p:blipFill>
          <a:blip r:embed="rId7"/>
          <a:stretch>
            <a:fillRect/>
          </a:stretch>
        </p:blipFill>
        <p:spPr>
          <a:xfrm>
            <a:off x="-1" y="5167312"/>
            <a:ext cx="12192000" cy="860612"/>
          </a:xfrm>
          <a:prstGeom prst="rect">
            <a:avLst/>
          </a:prstGeom>
        </p:spPr>
      </p:pic>
    </p:spTree>
    <p:extLst>
      <p:ext uri="{BB962C8B-B14F-4D97-AF65-F5344CB8AC3E}">
        <p14:creationId xmlns:p14="http://schemas.microsoft.com/office/powerpoint/2010/main" val="285787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ppt_x"/>
                                          </p:val>
                                        </p:tav>
                                        <p:tav tm="100000">
                                          <p:val>
                                            <p:strVal val="#ppt_x"/>
                                          </p:val>
                                        </p:tav>
                                      </p:tavLst>
                                    </p:anim>
                                    <p:anim calcmode="lin" valueType="num">
                                      <p:cBhvr additive="base">
                                        <p:cTn id="8" dur="500" fill="hold"/>
                                        <p:tgtEl>
                                          <p:spTgt spid="307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80"/>
                                        </p:tgtEl>
                                        <p:attrNameLst>
                                          <p:attrName>style.visibility</p:attrName>
                                        </p:attrNameLst>
                                      </p:cBhvr>
                                      <p:to>
                                        <p:strVal val="visible"/>
                                      </p:to>
                                    </p:set>
                                    <p:anim calcmode="lin" valueType="num">
                                      <p:cBhvr additive="base">
                                        <p:cTn id="11" dur="500" fill="hold"/>
                                        <p:tgtEl>
                                          <p:spTgt spid="3080"/>
                                        </p:tgtEl>
                                        <p:attrNameLst>
                                          <p:attrName>ppt_x</p:attrName>
                                        </p:attrNameLst>
                                      </p:cBhvr>
                                      <p:tavLst>
                                        <p:tav tm="0">
                                          <p:val>
                                            <p:strVal val="#ppt_x"/>
                                          </p:val>
                                        </p:tav>
                                        <p:tav tm="100000">
                                          <p:val>
                                            <p:strVal val="#ppt_x"/>
                                          </p:val>
                                        </p:tav>
                                      </p:tavLst>
                                    </p:anim>
                                    <p:anim calcmode="lin" valueType="num">
                                      <p:cBhvr additive="base">
                                        <p:cTn id="12" dur="500" fill="hold"/>
                                        <p:tgtEl>
                                          <p:spTgt spid="308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3074"/>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076"/>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080"/>
                                        </p:tgtEl>
                                        <p:attrNameLst>
                                          <p:attrName>style.visibility</p:attrName>
                                        </p:attrNameLst>
                                      </p:cBhvr>
                                      <p:to>
                                        <p:strVal val="hidden"/>
                                      </p:to>
                                    </p:set>
                                  </p:childTnLst>
                                </p:cTn>
                              </p:par>
                              <p:par>
                                <p:cTn id="23" presetID="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F36181-2B48-41AD-9AFF-9ED9B55B33F0}"/>
              </a:ext>
            </a:extLst>
          </p:cNvPr>
          <p:cNvSpPr>
            <a:spLocks noGrp="1"/>
          </p:cNvSpPr>
          <p:nvPr>
            <p:ph type="title"/>
          </p:nvPr>
        </p:nvSpPr>
        <p:spPr/>
        <p:txBody>
          <a:bodyPr/>
          <a:lstStyle/>
          <a:p>
            <a:r>
              <a:rPr lang="fr-FR" dirty="0"/>
              <a:t>Déplacer une branche ?</a:t>
            </a:r>
          </a:p>
        </p:txBody>
      </p:sp>
      <p:pic>
        <p:nvPicPr>
          <p:cNvPr id="6" name="Image 5">
            <a:extLst>
              <a:ext uri="{FF2B5EF4-FFF2-40B4-BE49-F238E27FC236}">
                <a16:creationId xmlns:a16="http://schemas.microsoft.com/office/drawing/2014/main" id="{2992929D-4F8F-4957-905C-1EB511DBC9A2}"/>
              </a:ext>
            </a:extLst>
          </p:cNvPr>
          <p:cNvPicPr>
            <a:picLocks noChangeAspect="1"/>
          </p:cNvPicPr>
          <p:nvPr/>
        </p:nvPicPr>
        <p:blipFill>
          <a:blip r:embed="rId3"/>
          <a:stretch>
            <a:fillRect/>
          </a:stretch>
        </p:blipFill>
        <p:spPr>
          <a:xfrm>
            <a:off x="1371600" y="1690689"/>
            <a:ext cx="7378870" cy="3465511"/>
          </a:xfrm>
          <a:prstGeom prst="rect">
            <a:avLst/>
          </a:prstGeom>
        </p:spPr>
      </p:pic>
      <p:pic>
        <p:nvPicPr>
          <p:cNvPr id="7" name="Image 6">
            <a:extLst>
              <a:ext uri="{FF2B5EF4-FFF2-40B4-BE49-F238E27FC236}">
                <a16:creationId xmlns:a16="http://schemas.microsoft.com/office/drawing/2014/main" id="{441E1018-2984-4641-B61E-60C27851765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371599" y="1701800"/>
            <a:ext cx="7378871" cy="3465510"/>
          </a:xfrm>
          <a:prstGeom prst="rect">
            <a:avLst/>
          </a:prstGeom>
        </p:spPr>
      </p:pic>
      <p:pic>
        <p:nvPicPr>
          <p:cNvPr id="8" name="Image 7">
            <a:extLst>
              <a:ext uri="{FF2B5EF4-FFF2-40B4-BE49-F238E27FC236}">
                <a16:creationId xmlns:a16="http://schemas.microsoft.com/office/drawing/2014/main" id="{0B05BC2D-8BC8-4820-A260-B29C4F94693A}"/>
              </a:ext>
            </a:extLst>
          </p:cNvPr>
          <p:cNvPicPr>
            <a:picLocks noChangeAspect="1"/>
          </p:cNvPicPr>
          <p:nvPr/>
        </p:nvPicPr>
        <p:blipFill>
          <a:blip r:embed="rId5"/>
          <a:stretch>
            <a:fillRect/>
          </a:stretch>
        </p:blipFill>
        <p:spPr>
          <a:xfrm>
            <a:off x="1371598" y="1696759"/>
            <a:ext cx="6642101" cy="3470551"/>
          </a:xfrm>
          <a:prstGeom prst="rect">
            <a:avLst/>
          </a:prstGeom>
        </p:spPr>
      </p:pic>
      <p:pic>
        <p:nvPicPr>
          <p:cNvPr id="3" name="Image 2">
            <a:extLst>
              <a:ext uri="{FF2B5EF4-FFF2-40B4-BE49-F238E27FC236}">
                <a16:creationId xmlns:a16="http://schemas.microsoft.com/office/drawing/2014/main" id="{20497297-509D-4D54-A7B9-8AEA54781FD7}"/>
              </a:ext>
            </a:extLst>
          </p:cNvPr>
          <p:cNvPicPr>
            <a:picLocks noChangeAspect="1"/>
          </p:cNvPicPr>
          <p:nvPr/>
        </p:nvPicPr>
        <p:blipFill>
          <a:blip r:embed="rId6"/>
          <a:stretch>
            <a:fillRect/>
          </a:stretch>
        </p:blipFill>
        <p:spPr>
          <a:xfrm>
            <a:off x="357350" y="5156200"/>
            <a:ext cx="11477297" cy="1594069"/>
          </a:xfrm>
          <a:prstGeom prst="rect">
            <a:avLst/>
          </a:prstGeom>
        </p:spPr>
      </p:pic>
      <p:pic>
        <p:nvPicPr>
          <p:cNvPr id="4" name="Image 3">
            <a:extLst>
              <a:ext uri="{FF2B5EF4-FFF2-40B4-BE49-F238E27FC236}">
                <a16:creationId xmlns:a16="http://schemas.microsoft.com/office/drawing/2014/main" id="{59B21CE6-37CD-4AEA-8E10-8A1634281CB3}"/>
              </a:ext>
            </a:extLst>
          </p:cNvPr>
          <p:cNvPicPr>
            <a:picLocks noChangeAspect="1"/>
          </p:cNvPicPr>
          <p:nvPr/>
        </p:nvPicPr>
        <p:blipFill>
          <a:blip r:embed="rId7"/>
          <a:stretch>
            <a:fillRect/>
          </a:stretch>
        </p:blipFill>
        <p:spPr>
          <a:xfrm>
            <a:off x="357350" y="5156199"/>
            <a:ext cx="10047891" cy="1569983"/>
          </a:xfrm>
          <a:prstGeom prst="rect">
            <a:avLst/>
          </a:prstGeom>
        </p:spPr>
      </p:pic>
    </p:spTree>
    <p:extLst>
      <p:ext uri="{BB962C8B-B14F-4D97-AF65-F5344CB8AC3E}">
        <p14:creationId xmlns:p14="http://schemas.microsoft.com/office/powerpoint/2010/main" val="424508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500" fill="hold"/>
                                        <p:tgtEl>
                                          <p:spTgt spid="3"/>
                                        </p:tgtEl>
                                        <p:attrNameLst>
                                          <p:attrName>ppt_x</p:attrName>
                                        </p:attrNameLst>
                                      </p:cBhvr>
                                      <p:tavLst>
                                        <p:tav tm="0">
                                          <p:val>
                                            <p:strVal val="#ppt_x"/>
                                          </p:val>
                                        </p:tav>
                                        <p:tav tm="100000">
                                          <p:val>
                                            <p:strVal val="#ppt_x"/>
                                          </p:val>
                                        </p:tav>
                                      </p:tavLst>
                                    </p:anim>
                                    <p:anim calcmode="lin" valueType="num">
                                      <p:cBhvr additive="base">
                                        <p:cTn id="10" dur="500" fill="hold"/>
                                        <p:tgtEl>
                                          <p:spTgt spid="3"/>
                                        </p:tgtEl>
                                        <p:attrNameLst>
                                          <p:attrName>ppt_y</p:attrName>
                                        </p:attrNameLst>
                                      </p:cBhvr>
                                      <p:tavLst>
                                        <p:tav tm="0">
                                          <p:val>
                                            <p:strVal val="1+#ppt_h/2"/>
                                          </p:val>
                                        </p:tav>
                                        <p:tav tm="100000">
                                          <p:val>
                                            <p:strVal val="#ppt_y"/>
                                          </p:val>
                                        </p:tav>
                                      </p:tavLst>
                                    </p:anim>
                                  </p:childTnLst>
                                </p:cTn>
                              </p:par>
                              <p:par>
                                <p:cTn id="11" presetID="1" presetClass="exit" presetSubtype="0" fill="hold"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F3FABF10-3610-43FF-81BD-AAF93AD5902E}"/>
              </a:ext>
            </a:extLst>
          </p:cNvPr>
          <p:cNvSpPr>
            <a:spLocks noGrp="1"/>
          </p:cNvSpPr>
          <p:nvPr>
            <p:ph type="title"/>
          </p:nvPr>
        </p:nvSpPr>
        <p:spPr>
          <a:xfrm>
            <a:off x="1174750" y="365125"/>
            <a:ext cx="9842500" cy="1325563"/>
          </a:xfrm>
        </p:spPr>
        <p:txBody>
          <a:bodyPr/>
          <a:lstStyle/>
          <a:p>
            <a:r>
              <a:rPr lang="fr-FR" dirty="0"/>
              <a:t>« Déplacer » une branche II</a:t>
            </a:r>
          </a:p>
        </p:txBody>
      </p:sp>
      <p:pic>
        <p:nvPicPr>
          <p:cNvPr id="6" name="Image 5">
            <a:extLst>
              <a:ext uri="{FF2B5EF4-FFF2-40B4-BE49-F238E27FC236}">
                <a16:creationId xmlns:a16="http://schemas.microsoft.com/office/drawing/2014/main" id="{106BCB97-DFEC-4550-B84C-16C842FD6B31}"/>
              </a:ext>
            </a:extLst>
          </p:cNvPr>
          <p:cNvPicPr>
            <a:picLocks noChangeAspect="1"/>
          </p:cNvPicPr>
          <p:nvPr/>
        </p:nvPicPr>
        <p:blipFill>
          <a:blip r:embed="rId3"/>
          <a:stretch>
            <a:fillRect/>
          </a:stretch>
        </p:blipFill>
        <p:spPr>
          <a:xfrm>
            <a:off x="0" y="2004576"/>
            <a:ext cx="7823200" cy="2848847"/>
          </a:xfrm>
          <a:prstGeom prst="rect">
            <a:avLst/>
          </a:prstGeom>
        </p:spPr>
      </p:pic>
      <p:pic>
        <p:nvPicPr>
          <p:cNvPr id="7" name="Image 6">
            <a:extLst>
              <a:ext uri="{FF2B5EF4-FFF2-40B4-BE49-F238E27FC236}">
                <a16:creationId xmlns:a16="http://schemas.microsoft.com/office/drawing/2014/main" id="{82904734-BDAB-4591-8CA7-B2580A63EBB5}"/>
              </a:ext>
            </a:extLst>
          </p:cNvPr>
          <p:cNvPicPr>
            <a:picLocks noChangeAspect="1"/>
          </p:cNvPicPr>
          <p:nvPr/>
        </p:nvPicPr>
        <p:blipFill>
          <a:blip r:embed="rId4"/>
          <a:stretch>
            <a:fillRect/>
          </a:stretch>
        </p:blipFill>
        <p:spPr>
          <a:xfrm>
            <a:off x="537210" y="5179178"/>
            <a:ext cx="11226800" cy="910282"/>
          </a:xfrm>
          <a:prstGeom prst="rect">
            <a:avLst/>
          </a:prstGeom>
        </p:spPr>
      </p:pic>
      <p:pic>
        <p:nvPicPr>
          <p:cNvPr id="8" name="Image 7">
            <a:extLst>
              <a:ext uri="{FF2B5EF4-FFF2-40B4-BE49-F238E27FC236}">
                <a16:creationId xmlns:a16="http://schemas.microsoft.com/office/drawing/2014/main" id="{E5226457-06C4-4C4A-9AA3-EACDA1970C2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2004576"/>
            <a:ext cx="9608820" cy="3283704"/>
          </a:xfrm>
          <a:prstGeom prst="rect">
            <a:avLst/>
          </a:prstGeom>
        </p:spPr>
      </p:pic>
      <p:pic>
        <p:nvPicPr>
          <p:cNvPr id="9" name="Image 8">
            <a:extLst>
              <a:ext uri="{FF2B5EF4-FFF2-40B4-BE49-F238E27FC236}">
                <a16:creationId xmlns:a16="http://schemas.microsoft.com/office/drawing/2014/main" id="{739142C6-8841-405A-AE95-61D47E5F8C21}"/>
              </a:ext>
            </a:extLst>
          </p:cNvPr>
          <p:cNvPicPr>
            <a:picLocks noChangeAspect="1"/>
          </p:cNvPicPr>
          <p:nvPr/>
        </p:nvPicPr>
        <p:blipFill>
          <a:blip r:embed="rId6"/>
          <a:stretch>
            <a:fillRect/>
          </a:stretch>
        </p:blipFill>
        <p:spPr>
          <a:xfrm>
            <a:off x="0" y="2004576"/>
            <a:ext cx="10439401" cy="2848847"/>
          </a:xfrm>
          <a:prstGeom prst="rect">
            <a:avLst/>
          </a:prstGeom>
        </p:spPr>
      </p:pic>
      <p:pic>
        <p:nvPicPr>
          <p:cNvPr id="11" name="Image 10">
            <a:extLst>
              <a:ext uri="{FF2B5EF4-FFF2-40B4-BE49-F238E27FC236}">
                <a16:creationId xmlns:a16="http://schemas.microsoft.com/office/drawing/2014/main" id="{81BCE90A-67F7-4497-A533-255CDA917BC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45700" y="4627903"/>
            <a:ext cx="10040715" cy="2356221"/>
          </a:xfrm>
          <a:prstGeom prst="rect">
            <a:avLst/>
          </a:prstGeom>
        </p:spPr>
      </p:pic>
    </p:spTree>
    <p:extLst>
      <p:ext uri="{BB962C8B-B14F-4D97-AF65-F5344CB8AC3E}">
        <p14:creationId xmlns:p14="http://schemas.microsoft.com/office/powerpoint/2010/main" val="129102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0D1C58-2C83-40AD-9971-05F79AE851D3}"/>
              </a:ext>
            </a:extLst>
          </p:cNvPr>
          <p:cNvSpPr>
            <a:spLocks noGrp="1"/>
          </p:cNvSpPr>
          <p:nvPr>
            <p:ph type="title"/>
          </p:nvPr>
        </p:nvSpPr>
        <p:spPr/>
        <p:txBody>
          <a:bodyPr/>
          <a:lstStyle/>
          <a:p>
            <a:r>
              <a:rPr lang="fr-FR" dirty="0"/>
              <a:t>Rebase : où est l’</a:t>
            </a:r>
            <a:r>
              <a:rPr lang="fr-FR" i="1" dirty="0" err="1"/>
              <a:t>upstream</a:t>
            </a:r>
            <a:r>
              <a:rPr lang="fr-FR" i="1" dirty="0"/>
              <a:t> </a:t>
            </a:r>
            <a:r>
              <a:rPr lang="fr-FR" dirty="0"/>
              <a:t>?</a:t>
            </a:r>
          </a:p>
        </p:txBody>
      </p:sp>
      <p:pic>
        <p:nvPicPr>
          <p:cNvPr id="4" name="Image 3">
            <a:extLst>
              <a:ext uri="{FF2B5EF4-FFF2-40B4-BE49-F238E27FC236}">
                <a16:creationId xmlns:a16="http://schemas.microsoft.com/office/drawing/2014/main" id="{44427257-DC47-47BD-A4BA-D53AEDCD9D8A}"/>
              </a:ext>
            </a:extLst>
          </p:cNvPr>
          <p:cNvPicPr>
            <a:picLocks noChangeAspect="1"/>
          </p:cNvPicPr>
          <p:nvPr/>
        </p:nvPicPr>
        <p:blipFill>
          <a:blip r:embed="rId3"/>
          <a:stretch>
            <a:fillRect/>
          </a:stretch>
        </p:blipFill>
        <p:spPr>
          <a:xfrm>
            <a:off x="709448" y="1369970"/>
            <a:ext cx="10130990" cy="4967768"/>
          </a:xfrm>
          <a:prstGeom prst="rect">
            <a:avLst/>
          </a:prstGeom>
        </p:spPr>
      </p:pic>
      <p:pic>
        <p:nvPicPr>
          <p:cNvPr id="6" name="Image 5">
            <a:extLst>
              <a:ext uri="{FF2B5EF4-FFF2-40B4-BE49-F238E27FC236}">
                <a16:creationId xmlns:a16="http://schemas.microsoft.com/office/drawing/2014/main" id="{49A9093D-39AC-4486-A9D2-4B96D9B57B1D}"/>
              </a:ext>
            </a:extLst>
          </p:cNvPr>
          <p:cNvPicPr>
            <a:picLocks noChangeAspect="1"/>
          </p:cNvPicPr>
          <p:nvPr/>
        </p:nvPicPr>
        <p:blipFill>
          <a:blip r:embed="rId4"/>
          <a:stretch>
            <a:fillRect/>
          </a:stretch>
        </p:blipFill>
        <p:spPr>
          <a:xfrm>
            <a:off x="1030504" y="6017985"/>
            <a:ext cx="10130990" cy="949780"/>
          </a:xfrm>
          <a:prstGeom prst="rect">
            <a:avLst/>
          </a:prstGeom>
        </p:spPr>
      </p:pic>
    </p:spTree>
    <p:extLst>
      <p:ext uri="{BB962C8B-B14F-4D97-AF65-F5344CB8AC3E}">
        <p14:creationId xmlns:p14="http://schemas.microsoft.com/office/powerpoint/2010/main" val="3077234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5E610940-92C1-4EBD-A9D2-BA7DD5034EAF}"/>
              </a:ext>
            </a:extLst>
          </p:cNvPr>
          <p:cNvSpPr>
            <a:spLocks noGrp="1"/>
          </p:cNvSpPr>
          <p:nvPr>
            <p:ph type="title"/>
          </p:nvPr>
        </p:nvSpPr>
        <p:spPr>
          <a:xfrm>
            <a:off x="1174750" y="365125"/>
            <a:ext cx="9842500" cy="1325563"/>
          </a:xfrm>
        </p:spPr>
        <p:txBody>
          <a:bodyPr/>
          <a:lstStyle/>
          <a:p>
            <a:r>
              <a:rPr lang="fr-FR" dirty="0"/>
              <a:t>Rebase : depuis où exactement ?</a:t>
            </a:r>
          </a:p>
        </p:txBody>
      </p:sp>
      <p:pic>
        <p:nvPicPr>
          <p:cNvPr id="1026" name="Picture 2">
            <a:extLst>
              <a:ext uri="{FF2B5EF4-FFF2-40B4-BE49-F238E27FC236}">
                <a16:creationId xmlns:a16="http://schemas.microsoft.com/office/drawing/2014/main" id="{21D0AAD7-169B-4F8F-B21A-FF1ADD70E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20396"/>
            <a:ext cx="11839903" cy="3417208"/>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5">
            <a:extLst>
              <a:ext uri="{FF2B5EF4-FFF2-40B4-BE49-F238E27FC236}">
                <a16:creationId xmlns:a16="http://schemas.microsoft.com/office/drawing/2014/main" id="{47AC51D3-9DF8-8B61-28D2-E5034B3E8AEE}"/>
              </a:ext>
            </a:extLst>
          </p:cNvPr>
          <p:cNvPicPr>
            <a:picLocks noChangeAspect="1"/>
          </p:cNvPicPr>
          <p:nvPr/>
        </p:nvPicPr>
        <p:blipFill>
          <a:blip r:embed="rId4"/>
          <a:stretch>
            <a:fillRect/>
          </a:stretch>
        </p:blipFill>
        <p:spPr>
          <a:xfrm>
            <a:off x="1030504" y="6017985"/>
            <a:ext cx="10130990" cy="949780"/>
          </a:xfrm>
          <a:prstGeom prst="rect">
            <a:avLst/>
          </a:prstGeom>
        </p:spPr>
      </p:pic>
    </p:spTree>
    <p:extLst>
      <p:ext uri="{BB962C8B-B14F-4D97-AF65-F5344CB8AC3E}">
        <p14:creationId xmlns:p14="http://schemas.microsoft.com/office/powerpoint/2010/main" val="100123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385EC5FF-626E-4C22-A4AB-22787F551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0" y="1720395"/>
            <a:ext cx="8513379" cy="3478459"/>
          </a:xfrm>
          <a:prstGeom prst="rect">
            <a:avLst/>
          </a:prstGeom>
          <a:noFill/>
          <a:extLst>
            <a:ext uri="{909E8E84-426E-40DD-AFC4-6F175D3DCCD1}">
              <a14:hiddenFill xmlns:a14="http://schemas.microsoft.com/office/drawing/2010/main">
                <a:solidFill>
                  <a:srgbClr val="FFFFFF"/>
                </a:solidFill>
              </a14:hiddenFill>
            </a:ext>
          </a:extLst>
        </p:spPr>
      </p:pic>
      <p:sp>
        <p:nvSpPr>
          <p:cNvPr id="5" name="Titre 1">
            <a:extLst>
              <a:ext uri="{FF2B5EF4-FFF2-40B4-BE49-F238E27FC236}">
                <a16:creationId xmlns:a16="http://schemas.microsoft.com/office/drawing/2014/main" id="{D8418E9F-D11A-4017-95E6-7C4FB3DF4D08}"/>
              </a:ext>
            </a:extLst>
          </p:cNvPr>
          <p:cNvSpPr>
            <a:spLocks noGrp="1"/>
          </p:cNvSpPr>
          <p:nvPr>
            <p:ph type="title"/>
          </p:nvPr>
        </p:nvSpPr>
        <p:spPr>
          <a:xfrm>
            <a:off x="1174750" y="365125"/>
            <a:ext cx="9842500" cy="1325563"/>
          </a:xfrm>
        </p:spPr>
        <p:txBody>
          <a:bodyPr/>
          <a:lstStyle/>
          <a:p>
            <a:r>
              <a:rPr lang="fr-FR" dirty="0"/>
              <a:t>Rebase : depuis où exactement ?</a:t>
            </a:r>
          </a:p>
        </p:txBody>
      </p:sp>
      <p:pic>
        <p:nvPicPr>
          <p:cNvPr id="3" name="Picture 2">
            <a:extLst>
              <a:ext uri="{FF2B5EF4-FFF2-40B4-BE49-F238E27FC236}">
                <a16:creationId xmlns:a16="http://schemas.microsoft.com/office/drawing/2014/main" id="{2BE07EB3-43D7-F78C-2F2C-DAD8CA65327E}"/>
              </a:ext>
            </a:extLst>
          </p:cNvPr>
          <p:cNvPicPr>
            <a:picLocks noChangeAspect="1"/>
          </p:cNvPicPr>
          <p:nvPr/>
        </p:nvPicPr>
        <p:blipFill>
          <a:blip r:embed="rId4"/>
          <a:stretch>
            <a:fillRect/>
          </a:stretch>
        </p:blipFill>
        <p:spPr>
          <a:xfrm>
            <a:off x="0" y="6017172"/>
            <a:ext cx="12192000" cy="840828"/>
          </a:xfrm>
          <a:prstGeom prst="rect">
            <a:avLst/>
          </a:prstGeom>
        </p:spPr>
      </p:pic>
    </p:spTree>
    <p:extLst>
      <p:ext uri="{BB962C8B-B14F-4D97-AF65-F5344CB8AC3E}">
        <p14:creationId xmlns:p14="http://schemas.microsoft.com/office/powerpoint/2010/main" val="3288800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813925-C533-4D52-80B0-201528144BCC}"/>
              </a:ext>
            </a:extLst>
          </p:cNvPr>
          <p:cNvSpPr>
            <a:spLocks noGrp="1"/>
          </p:cNvSpPr>
          <p:nvPr>
            <p:ph type="title"/>
          </p:nvPr>
        </p:nvSpPr>
        <p:spPr/>
        <p:txBody>
          <a:bodyPr/>
          <a:lstStyle/>
          <a:p>
            <a:r>
              <a:rPr lang="fr-FR" dirty="0"/>
              <a:t>Résumé</a:t>
            </a:r>
          </a:p>
        </p:txBody>
      </p:sp>
      <p:sp>
        <p:nvSpPr>
          <p:cNvPr id="3" name="Espace réservé du contenu 2">
            <a:extLst>
              <a:ext uri="{FF2B5EF4-FFF2-40B4-BE49-F238E27FC236}">
                <a16:creationId xmlns:a16="http://schemas.microsoft.com/office/drawing/2014/main" id="{71D16E5F-656D-4D5E-85EE-760DA992BF89}"/>
              </a:ext>
            </a:extLst>
          </p:cNvPr>
          <p:cNvSpPr>
            <a:spLocks noGrp="1"/>
          </p:cNvSpPr>
          <p:nvPr>
            <p:ph idx="1"/>
          </p:nvPr>
        </p:nvSpPr>
        <p:spPr/>
        <p:txBody>
          <a:bodyPr>
            <a:normAutofit fontScale="92500"/>
          </a:bodyPr>
          <a:lstStyle/>
          <a:p>
            <a:r>
              <a:rPr lang="fr-FR" b="1" dirty="0">
                <a:latin typeface="Cascadia Code" panose="020B0609020000020004" pitchFamily="49" charset="0"/>
                <a:cs typeface="Cascadia Code" panose="020B0609020000020004" pitchFamily="49" charset="0"/>
              </a:rPr>
              <a:t>Reset </a:t>
            </a:r>
            <a:r>
              <a:rPr lang="fr-FR" dirty="0">
                <a:latin typeface="Cascadia Code" panose="020B0609020000020004" pitchFamily="49" charset="0"/>
                <a:cs typeface="Cascadia Code" panose="020B0609020000020004" pitchFamily="49" charset="0"/>
              </a:rPr>
              <a:t>: déplace la tête d’une branche dans l’historique</a:t>
            </a:r>
          </a:p>
          <a:p>
            <a:pPr lvl="1"/>
            <a:r>
              <a:rPr lang="fr-FR" dirty="0">
                <a:latin typeface="Cascadia Code" panose="020B0609020000020004" pitchFamily="49" charset="0"/>
                <a:cs typeface="Cascadia Code" panose="020B0609020000020004" pitchFamily="49" charset="0"/>
              </a:rPr>
              <a:t>Notation HEAD~1, ORIG_HEAD, et plein d’autres !</a:t>
            </a:r>
          </a:p>
          <a:p>
            <a:r>
              <a:rPr lang="fr-FR" b="1" dirty="0" err="1">
                <a:latin typeface="Cascadia Code" panose="020B0609020000020004" pitchFamily="49" charset="0"/>
                <a:cs typeface="Cascadia Code" panose="020B0609020000020004" pitchFamily="49" charset="0"/>
              </a:rPr>
              <a:t>Checkout</a:t>
            </a:r>
            <a:r>
              <a:rPr lang="fr-FR" dirty="0">
                <a:latin typeface="Cascadia Code" panose="020B0609020000020004" pitchFamily="49" charset="0"/>
                <a:cs typeface="Cascadia Code" panose="020B0609020000020004" pitchFamily="49" charset="0"/>
              </a:rPr>
              <a:t> : déplace HEAD</a:t>
            </a:r>
          </a:p>
          <a:p>
            <a:pPr lvl="1"/>
            <a:r>
              <a:rPr lang="fr-FR" dirty="0">
                <a:latin typeface="Cascadia Code" panose="020B0609020000020004" pitchFamily="49" charset="0"/>
                <a:cs typeface="Cascadia Code" panose="020B0609020000020004" pitchFamily="49" charset="0"/>
              </a:rPr>
              <a:t>Pour basculer de branche</a:t>
            </a:r>
          </a:p>
          <a:p>
            <a:pPr lvl="1"/>
            <a:r>
              <a:rPr lang="fr-FR" dirty="0">
                <a:latin typeface="Cascadia Code" panose="020B0609020000020004" pitchFamily="49" charset="0"/>
                <a:cs typeface="Cascadia Code" panose="020B0609020000020004" pitchFamily="49" charset="0"/>
              </a:rPr>
              <a:t>Pour aller regarder un ancien commit</a:t>
            </a:r>
          </a:p>
          <a:p>
            <a:pPr lvl="1"/>
            <a:r>
              <a:rPr lang="fr-FR" dirty="0">
                <a:latin typeface="Cascadia Code" panose="020B0609020000020004" pitchFamily="49" charset="0"/>
                <a:cs typeface="Cascadia Code" panose="020B0609020000020004" pitchFamily="49" charset="0"/>
              </a:rPr>
              <a:t>Pour aller chercher une version d’un fichier ailleurs</a:t>
            </a:r>
          </a:p>
          <a:p>
            <a:r>
              <a:rPr lang="fr-FR" b="1" dirty="0">
                <a:latin typeface="Cascadia Code" panose="020B0609020000020004" pitchFamily="49" charset="0"/>
                <a:cs typeface="Cascadia Code" panose="020B0609020000020004" pitchFamily="49" charset="0"/>
              </a:rPr>
              <a:t>Rebase</a:t>
            </a:r>
            <a:r>
              <a:rPr lang="fr-FR" dirty="0">
                <a:latin typeface="Cascadia Code" panose="020B0609020000020004" pitchFamily="49" charset="0"/>
                <a:cs typeface="Cascadia Code" panose="020B0609020000020004" pitchFamily="49" charset="0"/>
              </a:rPr>
              <a:t> : reconstruit une branche ailleurs</a:t>
            </a:r>
          </a:p>
          <a:p>
            <a:pPr lvl="1"/>
            <a:r>
              <a:rPr lang="fr-FR" dirty="0">
                <a:latin typeface="Cascadia Code" panose="020B0609020000020004" pitchFamily="49" charset="0"/>
                <a:cs typeface="Cascadia Code" panose="020B0609020000020004" pitchFamily="49" charset="0"/>
              </a:rPr>
              <a:t>On déplace </a:t>
            </a:r>
            <a:r>
              <a:rPr lang="fr-FR" i="1" dirty="0">
                <a:latin typeface="Cascadia Code" panose="020B0609020000020004" pitchFamily="49" charset="0"/>
                <a:cs typeface="Cascadia Code" panose="020B0609020000020004" pitchFamily="49" charset="0"/>
              </a:rPr>
              <a:t>quoi</a:t>
            </a:r>
            <a:r>
              <a:rPr lang="fr-FR" dirty="0">
                <a:latin typeface="Cascadia Code" panose="020B0609020000020004" pitchFamily="49" charset="0"/>
                <a:cs typeface="Cascadia Code" panose="020B0609020000020004" pitchFamily="49" charset="0"/>
              </a:rPr>
              <a:t> ?</a:t>
            </a:r>
          </a:p>
          <a:p>
            <a:pPr lvl="1"/>
            <a:r>
              <a:rPr lang="fr-FR" i="1" dirty="0" err="1">
                <a:latin typeface="Cascadia Code" panose="020B0609020000020004" pitchFamily="49" charset="0"/>
                <a:cs typeface="Cascadia Code" panose="020B0609020000020004" pitchFamily="49" charset="0"/>
              </a:rPr>
              <a:t>Upstream</a:t>
            </a:r>
            <a:r>
              <a:rPr lang="fr-FR" dirty="0">
                <a:latin typeface="Cascadia Code" panose="020B0609020000020004" pitchFamily="49" charset="0"/>
                <a:cs typeface="Cascadia Code" panose="020B0609020000020004" pitchFamily="49" charset="0"/>
              </a:rPr>
              <a:t> : d’où (re)part notre branche.</a:t>
            </a:r>
          </a:p>
          <a:p>
            <a:pPr lvl="1"/>
            <a:r>
              <a:rPr lang="fr-FR" dirty="0">
                <a:latin typeface="Cascadia Code" panose="020B0609020000020004" pitchFamily="49" charset="0"/>
                <a:cs typeface="Cascadia Code" panose="020B0609020000020004" pitchFamily="49" charset="0"/>
              </a:rPr>
              <a:t>--Onto : où on veut reconstruire</a:t>
            </a:r>
          </a:p>
        </p:txBody>
      </p:sp>
    </p:spTree>
    <p:extLst>
      <p:ext uri="{BB962C8B-B14F-4D97-AF65-F5344CB8AC3E}">
        <p14:creationId xmlns:p14="http://schemas.microsoft.com/office/powerpoint/2010/main" val="274311120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1159</TotalTime>
  <Words>2265</Words>
  <Application>Microsoft Office PowerPoint</Application>
  <PresentationFormat>Widescreen</PresentationFormat>
  <Paragraphs>149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Cascadia Code</vt:lpstr>
      <vt:lpstr>Cascadia Code SemiBold</vt:lpstr>
      <vt:lpstr>Thème Office</vt:lpstr>
      <vt:lpstr>Git 201 Advanced Source Version Control</vt:lpstr>
      <vt:lpstr>Corriger un commit</vt:lpstr>
      <vt:lpstr>log vs reflog</vt:lpstr>
      <vt:lpstr>Voyager dans le temps</vt:lpstr>
      <vt:lpstr>.gitignore patterns</vt:lpstr>
      <vt:lpstr>Travailler avec les branches</vt:lpstr>
      <vt:lpstr>Déplacer une branche ?</vt:lpstr>
      <vt:lpstr>« Déplacer » une branche II</vt:lpstr>
      <vt:lpstr>Rebase : où est l’upstream ?</vt:lpstr>
      <vt:lpstr>Rebase : depuis où exactement ?</vt:lpstr>
      <vt:lpstr>Rebase : depuis où exactement ?</vt:lpstr>
      <vt:lpstr>Résumé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Git</dc:title>
  <dc:creator>JOFRESA Philippe</dc:creator>
  <cp:lastModifiedBy>Philippe Jofresa</cp:lastModifiedBy>
  <cp:revision>122</cp:revision>
  <dcterms:created xsi:type="dcterms:W3CDTF">2025-11-13T07:57:26Z</dcterms:created>
  <dcterms:modified xsi:type="dcterms:W3CDTF">2025-12-07T18:06:16Z</dcterms:modified>
</cp:coreProperties>
</file>